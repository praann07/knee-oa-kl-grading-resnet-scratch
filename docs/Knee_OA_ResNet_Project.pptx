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68" r:id="rId5"/>
    <p:sldId id="259" r:id="rId6"/>
    <p:sldId id="260" r:id="rId7"/>
    <p:sldId id="261" r:id="rId8"/>
    <p:sldId id="270" r:id="rId9"/>
    <p:sldId id="271" r:id="rId10"/>
    <p:sldId id="262" r:id="rId11"/>
    <p:sldId id="269" r:id="rId12"/>
    <p:sldId id="263" r:id="rId13"/>
    <p:sldId id="264" r:id="rId14"/>
    <p:sldId id="267" r:id="rId15"/>
    <p:sldId id="265" r:id="rId16"/>
    <p:sldId id="266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7" d="100"/>
          <a:sy n="127" d="100"/>
        </p:scale>
        <p:origin x="96" y="29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MixedKernelNet</c:v>
                </c:pt>
              </c:strCache>
            </c:strRef>
          </c:tx>
          <c:spPr>
            <a:solidFill>
              <a:srgbClr val="B4C0D4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0B1F3F"/>
                    </a:solidFill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Seed 1</c:v>
                </c:pt>
                <c:pt idx="1">
                  <c:v>Seed 2</c:v>
                </c:pt>
                <c:pt idx="2">
                  <c:v>Seed 3</c:v>
                </c:pt>
                <c:pt idx="3">
                  <c:v>Seed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55.36</c:v>
                </c:pt>
                <c:pt idx="1">
                  <c:v>55.99</c:v>
                </c:pt>
                <c:pt idx="2">
                  <c:v>52.69</c:v>
                </c:pt>
                <c:pt idx="3">
                  <c:v>54.84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CC-4775-B10D-2C2EFD3B6D8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DenseNet</c:v>
                </c:pt>
              </c:strCache>
            </c:strRef>
          </c:tx>
          <c:spPr>
            <a:solidFill>
              <a:srgbClr val="6F8FC0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0B1F3F"/>
                    </a:solidFill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Seed 1</c:v>
                </c:pt>
                <c:pt idx="1">
                  <c:v>Seed 2</c:v>
                </c:pt>
                <c:pt idx="2">
                  <c:v>Seed 3</c:v>
                </c:pt>
                <c:pt idx="3">
                  <c:v>Seed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62.25</c:v>
                </c:pt>
                <c:pt idx="1">
                  <c:v>62.05</c:v>
                </c:pt>
                <c:pt idx="2">
                  <c:v>61.2</c:v>
                </c:pt>
                <c:pt idx="3">
                  <c:v>62.43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CC-4775-B10D-2C2EFD3B6D8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ResNet</c:v>
                </c:pt>
              </c:strCache>
            </c:strRef>
          </c:tx>
          <c:spPr>
            <a:solidFill>
              <a:srgbClr val="0B1F3F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0B1F3F"/>
                    </a:solidFill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Seed 1</c:v>
                </c:pt>
                <c:pt idx="1">
                  <c:v>Seed 2</c:v>
                </c:pt>
                <c:pt idx="2">
                  <c:v>Seed 3</c:v>
                </c:pt>
                <c:pt idx="3">
                  <c:v>Seed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65.489999999999995</c:v>
                </c:pt>
                <c:pt idx="1">
                  <c:v>65.09</c:v>
                </c:pt>
                <c:pt idx="2">
                  <c:v>65.989999999999995</c:v>
                </c:pt>
                <c:pt idx="3">
                  <c:v>65.569999999999993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1CC-4775-B10D-2C2EFD3B6D8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5DBE5"/>
            </a:solidFill>
          </a:ln>
        </c:spPr>
        <c:txPr>
          <a:bodyPr/>
          <a:lstStyle/>
          <a:p>
            <a:pPr>
              <a:defRPr sz="1200">
                <a:solidFill>
                  <a:srgbClr val="0B1F3F"/>
                </a:solidFill>
                <a:latin typeface="Arial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80"/>
          <c:min val="0"/>
        </c:scaling>
        <c:delete val="0"/>
        <c:axPos val="l"/>
        <c:majorGridlines>
          <c:spPr>
            <a:ln>
              <a:solidFill>
                <a:srgbClr val="D5DBE5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5A6373"/>
                </a:solidFill>
                <a:latin typeface="Arial"/>
              </a:defRPr>
            </a:pPr>
            <a:endParaRPr lang="en-US"/>
          </a:p>
        </c:txPr>
        <c:crossAx val="-2068027336"/>
        <c:crosses val="autoZero"/>
        <c:crossBetween val="between"/>
        <c:majorUnit val="20"/>
      </c:valAx>
    </c:plotArea>
    <c:legend>
      <c:legendPos val="b"/>
      <c:overlay val="0"/>
      <c:txPr>
        <a:bodyPr/>
        <a:lstStyle/>
        <a:p>
          <a:pPr>
            <a:defRPr sz="1200">
              <a:solidFill>
                <a:srgbClr val="0B1F3F"/>
              </a:solidFill>
              <a:latin typeface="Arial"/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8FA5C8"/>
              </a:solidFill>
            </c:spPr>
            <c:extLst>
              <c:ext xmlns:c16="http://schemas.microsoft.com/office/drawing/2014/chart" uri="{C3380CC4-5D6E-409C-BE32-E72D297353CC}">
                <c16:uniqueId val="{00000001-96AC-4F10-9F41-F7E918B0C291}"/>
              </c:ext>
            </c:extLst>
          </c:dPt>
          <c:dPt>
            <c:idx val="1"/>
            <c:invertIfNegative val="1"/>
            <c:bubble3D val="0"/>
            <c:spPr>
              <a:solidFill>
                <a:srgbClr val="8FA5C8"/>
              </a:solidFill>
            </c:spPr>
            <c:extLst>
              <c:ext xmlns:c16="http://schemas.microsoft.com/office/drawing/2014/chart" uri="{C3380CC4-5D6E-409C-BE32-E72D297353CC}">
                <c16:uniqueId val="{00000003-96AC-4F10-9F41-F7E918B0C291}"/>
              </c:ext>
            </c:extLst>
          </c:dPt>
          <c:dPt>
            <c:idx val="2"/>
            <c:invertIfNegative val="1"/>
            <c:bubble3D val="0"/>
            <c:spPr>
              <a:solidFill>
                <a:srgbClr val="8FA5C8"/>
              </a:solidFill>
            </c:spPr>
            <c:extLst>
              <c:ext xmlns:c16="http://schemas.microsoft.com/office/drawing/2014/chart" uri="{C3380CC4-5D6E-409C-BE32-E72D297353CC}">
                <c16:uniqueId val="{00000005-96AC-4F10-9F41-F7E918B0C291}"/>
              </c:ext>
            </c:extLst>
          </c:dPt>
          <c:dPt>
            <c:idx val="3"/>
            <c:invertIfNegative val="1"/>
            <c:bubble3D val="0"/>
            <c:spPr>
              <a:solidFill>
                <a:srgbClr val="8FA5C8"/>
              </a:solidFill>
            </c:spPr>
            <c:extLst>
              <c:ext xmlns:c16="http://schemas.microsoft.com/office/drawing/2014/chart" uri="{C3380CC4-5D6E-409C-BE32-E72D297353CC}">
                <c16:uniqueId val="{00000007-96AC-4F10-9F41-F7E918B0C291}"/>
              </c:ext>
            </c:extLst>
          </c:dPt>
          <c:dPt>
            <c:idx val="4"/>
            <c:invertIfNegative val="1"/>
            <c:bubble3D val="0"/>
            <c:spPr>
              <a:solidFill>
                <a:srgbClr val="8FA5C8"/>
              </a:solidFill>
            </c:spPr>
            <c:extLst>
              <c:ext xmlns:c16="http://schemas.microsoft.com/office/drawing/2014/chart" uri="{C3380CC4-5D6E-409C-BE32-E72D297353CC}">
                <c16:uniqueId val="{00000009-96AC-4F10-9F41-F7E918B0C291}"/>
              </c:ext>
            </c:extLst>
          </c:dPt>
          <c:dPt>
            <c:idx val="5"/>
            <c:invertIfNegative val="1"/>
            <c:bubble3D val="0"/>
            <c:spPr>
              <a:solidFill>
                <a:srgbClr val="8FA5C8"/>
              </a:solidFill>
            </c:spPr>
            <c:extLst>
              <c:ext xmlns:c16="http://schemas.microsoft.com/office/drawing/2014/chart" uri="{C3380CC4-5D6E-409C-BE32-E72D297353CC}">
                <c16:uniqueId val="{0000000B-96AC-4F10-9F41-F7E918B0C291}"/>
              </c:ext>
            </c:extLst>
          </c:dPt>
          <c:dPt>
            <c:idx val="6"/>
            <c:invertIfNegative val="1"/>
            <c:bubble3D val="0"/>
            <c:spPr>
              <a:solidFill>
                <a:srgbClr val="0B1F3F"/>
              </a:solidFill>
            </c:spPr>
            <c:extLst>
              <c:ext xmlns:c16="http://schemas.microsoft.com/office/drawing/2014/chart" uri="{C3380CC4-5D6E-409C-BE32-E72D297353CC}">
                <c16:uniqueId val="{0000000D-96AC-4F10-9F41-F7E918B0C291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0B1F3F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Pi 2023 (6-CNN ensemble)*</c:v>
                </c:pt>
                <c:pt idx="1">
                  <c:v>CLIP-KOA 2025</c:v>
                </c:pt>
                <c:pt idx="2">
                  <c:v>OsteoHRNet 2024</c:v>
                </c:pt>
                <c:pt idx="3">
                  <c:v>ORM DenseNet-161 2022</c:v>
                </c:pt>
                <c:pt idx="4">
                  <c:v>Chen 2019 (VGG-19)</c:v>
                </c:pt>
                <c:pt idx="5">
                  <c:v>EfficientNetB5 2025</c:v>
                </c:pt>
                <c:pt idx="6">
                  <c:v>This work (from scratch)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76.900000000000006</c:v>
                </c:pt>
                <c:pt idx="1">
                  <c:v>71.900000000000006</c:v>
                </c:pt>
                <c:pt idx="2">
                  <c:v>71.7</c:v>
                </c:pt>
                <c:pt idx="3">
                  <c:v>70.2</c:v>
                </c:pt>
                <c:pt idx="4">
                  <c:v>69.7</c:v>
                </c:pt>
                <c:pt idx="5">
                  <c:v>66.400000000000006</c:v>
                </c:pt>
                <c:pt idx="6">
                  <c:v>65.900000000000006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96AC-4F10-9F41-F7E918B0C29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D5DBE5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90"/>
          <c:min val="0"/>
        </c:scaling>
        <c:delete val="0"/>
        <c:axPos val="t"/>
        <c:majorGridlines>
          <c:spPr>
            <a:ln>
              <a:solidFill>
                <a:srgbClr val="D5DBE5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A6373"/>
                </a:solidFill>
              </a:defRPr>
            </a:pPr>
            <a:endParaRPr lang="en-US"/>
          </a:p>
        </c:txPr>
        <c:crossAx val="-2068027336"/>
        <c:crosses val="autoZero"/>
        <c:crossBetween val="between"/>
        <c:majorUnit val="30"/>
      </c:valAx>
    </c:plotArea>
    <c:plotVisOnly val="1"/>
    <c:dispBlanksAs val="gap"/>
    <c:showDLblsOverMax val="1"/>
  </c:chart>
  <c:txPr>
    <a:bodyPr/>
    <a:lstStyle/>
    <a:p>
      <a:pPr>
        <a:defRPr sz="1200">
          <a:solidFill>
            <a:srgbClr val="0B1F3F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068C80-6927-4C15-AB71-5E1796C87A79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2591F1-EE04-4C69-ACCC-A193D85E9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4594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Sources: Chen et al. 2019, Comput Med Imaging Graph 75:84-92 (69.7 %, MAE 0.344; abstract as quoted by secondary sources). Yong et al. 2022 (Multimed Tools Appl 81:41497) and Jain et al. 2024 (OsteoHRNet, arXiv 2106.14292): accuracies taken from the comparison table of Jeong &amp; Lee 2025, arXiv 2504.19443 (CLIP-KOA, 71.86 %, F1 0.709, test 1,656). Pi et al. 2023, Sci Rep 13:22887 (76.93 %, F1 0.7665). Momenpour &amp; Abu Mallouh 2025, Diagnostics 15(11):1332 (EfficientNetB5, 66.36 %, macro-F1 60.23 % on original labels, official test). afzall003/knee-oa-classification README (from scratch, 1,175,845 params, balanced acc 0.644, QWK 0.753, no accuracy reported). Pretrained status of Yong 2022 and Jain 2024 was not 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Chart values: Pi 2023 76.93; CLIP-KOA 71.86; OsteoHRNet 71.74; Yong ORM DenseNet-161 70.23; Chen 2019 69.7; EfficientNetB5 baseline 66.36; this work 65.94 (official 1,656 test, bias-tuned; raw 66.61). The 82.07 % CleanLab result (Momenpour &amp; Abu Mallouh 2025) is scored on relabelled test labels (McNemar p = 0.076 on the original labels) and is excluded. Mohammed et al. 2023 (ResNet-101, 69 %) uses a random 7:2:1 split of all 9,786 images, not the official test split, so it is also excluded from the chart.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863840" y="0"/>
            <a:ext cx="4327855" cy="6858000"/>
          </a:xfrm>
          <a:prstGeom prst="rect">
            <a:avLst/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64008" cy="219456"/>
          </a:xfrm>
          <a:prstGeom prst="rect">
            <a:avLst/>
          </a:prstGeom>
          <a:solidFill>
            <a:srgbClr val="0B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B1F3F"/>
                </a:solidFill>
                <a:latin typeface="Arial"/>
              </a:rPr>
              <a:t>DEEP LEARNING — PROJECT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694944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0B1F3F"/>
                </a:solidFill>
                <a:latin typeface="Arial"/>
              </a:rPr>
              <a:t>Knee Osteoarthritis Severity Grading from X-rays Using a From-Scratch ResNet Ensemble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49039"/>
            <a:ext cx="6766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A6373"/>
                </a:solidFill>
                <a:latin typeface="Arial"/>
              </a:rPr>
              <a:t>Kellgren–Lawrence grade classification (G0–G4) with label cleaning, self-supervised pre-training and a four-seed ensemble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572000"/>
            <a:ext cx="777240" cy="0"/>
          </a:xfrm>
          <a:prstGeom prst="line">
            <a:avLst/>
          </a:prstGeom>
          <a:ln w="25400">
            <a:solidFill>
              <a:srgbClr val="0B1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846320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B1F3F"/>
                </a:solidFill>
                <a:latin typeface="Arial"/>
              </a:rPr>
              <a:t>Mamidala Som Praneeth Babu (CB.SC.U4AIE24029)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230368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B1F3F"/>
                </a:solidFill>
                <a:latin typeface="Arial"/>
              </a:rPr>
              <a:t>Course 22AIE304 · Deep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760720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A6373"/>
                </a:solidFill>
                <a:latin typeface="Arial"/>
              </a:rPr>
              <a:t>Amrita Vishwa Vidyapeetham, Coimbatore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732520" y="1737360"/>
            <a:ext cx="1828800" cy="1691640"/>
          </a:xfrm>
          <a:prstGeom prst="line">
            <a:avLst/>
          </a:prstGeom>
          <a:ln w="12700">
            <a:solidFill>
              <a:srgbClr val="0B1F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732520" y="2834640"/>
            <a:ext cx="1828800" cy="594360"/>
          </a:xfrm>
          <a:prstGeom prst="line">
            <a:avLst/>
          </a:prstGeom>
          <a:ln w="12700">
            <a:solidFill>
              <a:srgbClr val="0B1F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8732520" y="3429000"/>
            <a:ext cx="1828800" cy="502920"/>
          </a:xfrm>
          <a:prstGeom prst="line">
            <a:avLst/>
          </a:prstGeom>
          <a:ln w="12700">
            <a:solidFill>
              <a:srgbClr val="0B1F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8732520" y="3429000"/>
            <a:ext cx="1828800" cy="1600200"/>
          </a:xfrm>
          <a:prstGeom prst="line">
            <a:avLst/>
          </a:prstGeom>
          <a:ln w="12700">
            <a:solidFill>
              <a:srgbClr val="0B1F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366760" y="1371600"/>
            <a:ext cx="731520" cy="7315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B1F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>
                <a:solidFill>
                  <a:srgbClr val="0B1F3F"/>
                </a:solidFill>
                <a:latin typeface="Arial"/>
              </a:rPr>
              <a:t>R1</a:t>
            </a:r>
          </a:p>
        </p:txBody>
      </p:sp>
      <p:sp>
        <p:nvSpPr>
          <p:cNvPr id="16" name="Oval 15"/>
          <p:cNvSpPr/>
          <p:nvPr/>
        </p:nvSpPr>
        <p:spPr>
          <a:xfrm>
            <a:off x="8366760" y="2468880"/>
            <a:ext cx="731520" cy="7315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B1F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>
                <a:solidFill>
                  <a:srgbClr val="0B1F3F"/>
                </a:solidFill>
                <a:latin typeface="Arial"/>
              </a:rPr>
              <a:t>R2</a:t>
            </a:r>
          </a:p>
        </p:txBody>
      </p:sp>
      <p:sp>
        <p:nvSpPr>
          <p:cNvPr id="17" name="Oval 16"/>
          <p:cNvSpPr/>
          <p:nvPr/>
        </p:nvSpPr>
        <p:spPr>
          <a:xfrm>
            <a:off x="8366760" y="3566160"/>
            <a:ext cx="731520" cy="7315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B1F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>
                <a:solidFill>
                  <a:srgbClr val="0B1F3F"/>
                </a:solidFill>
                <a:latin typeface="Arial"/>
              </a:rPr>
              <a:t>R3</a:t>
            </a:r>
          </a:p>
        </p:txBody>
      </p:sp>
      <p:sp>
        <p:nvSpPr>
          <p:cNvPr id="18" name="Oval 17"/>
          <p:cNvSpPr/>
          <p:nvPr/>
        </p:nvSpPr>
        <p:spPr>
          <a:xfrm>
            <a:off x="8366760" y="4663440"/>
            <a:ext cx="731520" cy="7315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B1F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>
                <a:solidFill>
                  <a:srgbClr val="0B1F3F"/>
                </a:solidFill>
                <a:latin typeface="Arial"/>
              </a:rPr>
              <a:t>R4</a:t>
            </a:r>
          </a:p>
        </p:txBody>
      </p:sp>
      <p:sp>
        <p:nvSpPr>
          <p:cNvPr id="19" name="Oval 18"/>
          <p:cNvSpPr/>
          <p:nvPr/>
        </p:nvSpPr>
        <p:spPr>
          <a:xfrm>
            <a:off x="10469880" y="2743200"/>
            <a:ext cx="1371600" cy="1371600"/>
          </a:xfrm>
          <a:prstGeom prst="ellipse">
            <a:avLst/>
          </a:prstGeom>
          <a:solidFill>
            <a:srgbClr val="0B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5806440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5A6373"/>
                </a:solidFill>
                <a:latin typeface="Arial"/>
              </a:rPr>
              <a:t>Four ResNet seeds (R1–R4) → ensemble → KL grade 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64008" cy="475488"/>
          </a:xfrm>
          <a:prstGeom prst="rect">
            <a:avLst/>
          </a:prstGeom>
          <a:solidFill>
            <a:srgbClr val="0B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B1F3F"/>
                </a:solidFill>
                <a:latin typeface="Arial"/>
              </a:rPr>
              <a:t>Project Implementation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4980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A6373"/>
                </a:solidFill>
                <a:latin typeface="Arial"/>
              </a:rPr>
              <a:t>Five stages from the raw X-ray to the final KL grade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74552" cy="12801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A6373"/>
                </a:solidFill>
                <a:latin typeface="Arial"/>
              </a:rPr>
              <a:t>Knee Osteoarthritis KL-Grade Classification Using ResNet   ·   Deep Learning   ·   22AIE304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73952"/>
            <a:ext cx="13990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0B1F3F"/>
                </a:solidFill>
                <a:latin typeface="Arial"/>
              </a:rPr>
              <a:t>2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731520" cy="841248"/>
          </a:xfrm>
          <a:prstGeom prst="rect">
            <a:avLst/>
          </a:prstGeom>
          <a:solidFill>
            <a:srgbClr val="0B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1280160" y="1371600"/>
            <a:ext cx="10451592" cy="841248"/>
          </a:xfrm>
          <a:prstGeom prst="rect">
            <a:avLst/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63040" y="1444752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B1F3F"/>
                </a:solidFill>
                <a:latin typeface="Arial"/>
              </a:rPr>
              <a:t>Preprocessing &amp; Augmentation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700784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0B1F3F"/>
                </a:solidFill>
                <a:latin typeface="Arial"/>
              </a:rPr>
              <a:t>Grayscale 224×224 replicated to 3 channels and scaled to [−1, 1]; GPU augmentation (rotation, shift, zoom, flip, noise, erasing).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947672"/>
            <a:ext cx="10058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F"/>
                </a:solidFill>
                <a:latin typeface="Arial"/>
              </a:rPr>
              <a:t>Output: </a:t>
            </a:r>
            <a:r>
              <a:rPr sz="1200" b="0">
                <a:solidFill>
                  <a:srgbClr val="0B1F3F"/>
                </a:solidFill>
                <a:latin typeface="Arial"/>
              </a:rPr>
              <a:t>4,911 train / 867 validation / 4,008 test images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304288"/>
            <a:ext cx="731520" cy="841248"/>
          </a:xfrm>
          <a:prstGeom prst="rect">
            <a:avLst/>
          </a:prstGeom>
          <a:solidFill>
            <a:srgbClr val="0B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80160" y="2304288"/>
            <a:ext cx="10451592" cy="841248"/>
          </a:xfrm>
          <a:prstGeom prst="rect">
            <a:avLst/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463040" y="2377440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B1F3F"/>
                </a:solidFill>
                <a:latin typeface="Arial"/>
              </a:rPr>
              <a:t>Label Cleaning with CleanLab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633472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0B1F3F"/>
                </a:solidFill>
                <a:latin typeface="Arial"/>
              </a:rPr>
              <a:t>5-fold out-of-fold predictions flag suspect labels; flagged samples are down-weighted to 0.3× and never removed.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2880360"/>
            <a:ext cx="10058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F"/>
                </a:solidFill>
                <a:latin typeface="Arial"/>
              </a:rPr>
              <a:t>Output: </a:t>
            </a:r>
            <a:r>
              <a:rPr sz="1200" b="0">
                <a:solidFill>
                  <a:srgbClr val="0B1F3F"/>
                </a:solidFill>
                <a:latin typeface="Arial"/>
              </a:rPr>
              <a:t>988 of 4,911 training labels down-weighted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236976"/>
            <a:ext cx="731520" cy="841248"/>
          </a:xfrm>
          <a:prstGeom prst="rect">
            <a:avLst/>
          </a:prstGeom>
          <a:solidFill>
            <a:srgbClr val="0B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80160" y="3236976"/>
            <a:ext cx="10451592" cy="841248"/>
          </a:xfrm>
          <a:prstGeom prst="rect">
            <a:avLst/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463040" y="3310128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B1F3F"/>
                </a:solidFill>
                <a:latin typeface="Arial"/>
              </a:rPr>
              <a:t>Self-Supervised Pre-training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566160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0B1F3F"/>
                </a:solidFill>
                <a:latin typeface="Arial"/>
              </a:rPr>
              <a:t>Rotation prediction (0° / 90° / 180° / 270°) for 15 epochs on the training images only; no labels, no outside data.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813048"/>
            <a:ext cx="10058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F"/>
                </a:solidFill>
                <a:latin typeface="Arial"/>
              </a:rPr>
              <a:t>Output: </a:t>
            </a:r>
            <a:r>
              <a:rPr sz="1200" b="0">
                <a:solidFill>
                  <a:srgbClr val="0B1F3F"/>
                </a:solidFill>
                <a:latin typeface="Arial"/>
              </a:rPr>
              <a:t>Initial weights for every ResNet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169664"/>
            <a:ext cx="731520" cy="841248"/>
          </a:xfrm>
          <a:prstGeom prst="rect">
            <a:avLst/>
          </a:prstGeom>
          <a:solidFill>
            <a:srgbClr val="0B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80160" y="4169664"/>
            <a:ext cx="10451592" cy="841248"/>
          </a:xfrm>
          <a:prstGeom prst="rect">
            <a:avLst/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463040" y="4242816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B1F3F"/>
                </a:solidFill>
                <a:latin typeface="Arial"/>
              </a:rPr>
              <a:t>Fine-tuning Four ResNet Seeds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4498848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0B1F3F"/>
                </a:solidFill>
                <a:latin typeface="Arial"/>
              </a:rPr>
              <a:t>80 epochs with class-weighted focal loss and ordinal soft labels; AdamW, cosine schedule, weight EMA of 0.998.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4745736"/>
            <a:ext cx="10058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F"/>
                </a:solidFill>
                <a:latin typeface="Arial"/>
              </a:rPr>
              <a:t>Output: </a:t>
            </a:r>
            <a:r>
              <a:rPr sz="1200" b="0">
                <a:solidFill>
                  <a:srgbClr val="0B1F3F"/>
                </a:solidFill>
                <a:latin typeface="Arial"/>
              </a:rPr>
              <a:t>Four models, validation κ 0.815 – 0.823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102352"/>
            <a:ext cx="731520" cy="841248"/>
          </a:xfrm>
          <a:prstGeom prst="rect">
            <a:avLst/>
          </a:prstGeom>
          <a:solidFill>
            <a:srgbClr val="0B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80160" y="5102352"/>
            <a:ext cx="10451592" cy="841248"/>
          </a:xfrm>
          <a:prstGeom prst="rect">
            <a:avLst/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463040" y="5175504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B1F3F"/>
                </a:solidFill>
                <a:latin typeface="Arial"/>
              </a:rPr>
              <a:t>Ensemble &amp; Decoding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5431536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0B1F3F"/>
                </a:solidFill>
                <a:latin typeface="Arial"/>
              </a:rPr>
              <a:t>κ-weighted average with horizontal-flip test-time augmentation; per-class bias tuned on the validation set only.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5678424"/>
            <a:ext cx="10058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F"/>
                </a:solidFill>
                <a:latin typeface="Arial"/>
              </a:rPr>
              <a:t>Output: </a:t>
            </a:r>
            <a:r>
              <a:rPr sz="1200" b="0">
                <a:solidFill>
                  <a:srgbClr val="0B1F3F"/>
                </a:solidFill>
                <a:latin typeface="Arial"/>
              </a:rPr>
              <a:t>65.7 % accuracy, quadratic κ 0.813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64008" cy="475488"/>
          </a:xfrm>
          <a:prstGeom prst="rect">
            <a:avLst/>
          </a:prstGeom>
          <a:solidFill>
            <a:srgbClr val="0B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B1F3F"/>
                </a:solidFill>
                <a:latin typeface="Arial"/>
              </a:rPr>
              <a:t>ResNet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4980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A6373"/>
                </a:solidFill>
                <a:latin typeface="Arial"/>
              </a:rPr>
              <a:t>A 5.31 M-parameter residual network trained from random initialisation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74552" cy="12801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A6373"/>
                </a:solidFill>
                <a:latin typeface="Arial"/>
              </a:rPr>
              <a:t>Knee Osteoarthritis KL-Grade Classification Using ResNet   ·   Deep Learning   ·   22AIE304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73952"/>
            <a:ext cx="13990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0B1F3F"/>
                </a:solidFill>
                <a:latin typeface="Arial"/>
              </a:rPr>
              <a:t>3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256032" cy="256032"/>
          </a:xfrm>
          <a:prstGeom prst="roundRect">
            <a:avLst/>
          </a:prstGeom>
          <a:solidFill>
            <a:srgbClr val="0B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44168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0B1F3F"/>
                </a:solidFill>
                <a:latin typeface="Arial"/>
              </a:rPr>
              <a:t>DATA FLOW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91640"/>
            <a:ext cx="11274552" cy="1508760"/>
          </a:xfrm>
          <a:prstGeom prst="rect">
            <a:avLst/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1520" y="1828800"/>
            <a:ext cx="109728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B1F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0B1F3F"/>
                </a:solidFill>
                <a:latin typeface="Arial"/>
              </a:rPr>
              <a:t>Input</a:t>
            </a:r>
          </a:p>
          <a:p>
            <a:pPr algn="ctr"/>
            <a:r>
              <a:rPr sz="1000" b="0">
                <a:solidFill>
                  <a:srgbClr val="0B1F3F"/>
                </a:solidFill>
                <a:latin typeface="Arial"/>
              </a:rPr>
              <a:t>RGB image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98064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5A6373"/>
                </a:solidFill>
                <a:latin typeface="Arial"/>
              </a:rPr>
              <a:t>224×224×3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03120" y="1828800"/>
            <a:ext cx="1097280" cy="868680"/>
          </a:xfrm>
          <a:prstGeom prst="roundRect">
            <a:avLst>
              <a:gd name="adj" fmla="val 12000"/>
            </a:avLst>
          </a:prstGeom>
          <a:solidFill>
            <a:srgbClr val="0B1F3F"/>
          </a:solidFill>
          <a:ln w="12700">
            <a:solidFill>
              <a:srgbClr val="0B1F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Entry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Arial"/>
              </a:rPr>
              <a:t>Conv + Pool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79" y="2798064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5A6373"/>
                </a:solidFill>
                <a:latin typeface="Arial"/>
              </a:rPr>
              <a:t>112×112×64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847087" y="2263140"/>
            <a:ext cx="237744" cy="0"/>
          </a:xfrm>
          <a:prstGeom prst="line">
            <a:avLst/>
          </a:prstGeom>
          <a:ln w="15875">
            <a:solidFill>
              <a:srgbClr val="0B1F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474720" y="1828800"/>
            <a:ext cx="1097280" cy="868680"/>
          </a:xfrm>
          <a:prstGeom prst="roundRect">
            <a:avLst>
              <a:gd name="adj" fmla="val 12000"/>
            </a:avLst>
          </a:prstGeom>
          <a:solidFill>
            <a:srgbClr val="0B1F3F"/>
          </a:solidFill>
          <a:ln w="12700">
            <a:solidFill>
              <a:srgbClr val="0B1F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Stage 1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Arial"/>
              </a:rPr>
              <a:t>2× ResBlock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79" y="2798064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5A6373"/>
                </a:solidFill>
                <a:latin typeface="Arial"/>
              </a:rPr>
              <a:t>112×112×64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218688" y="2263140"/>
            <a:ext cx="237744" cy="0"/>
          </a:xfrm>
          <a:prstGeom prst="line">
            <a:avLst/>
          </a:prstGeom>
          <a:ln w="15875">
            <a:solidFill>
              <a:srgbClr val="0B1F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846320" y="1828800"/>
            <a:ext cx="1097280" cy="868680"/>
          </a:xfrm>
          <a:prstGeom prst="roundRect">
            <a:avLst>
              <a:gd name="adj" fmla="val 12000"/>
            </a:avLst>
          </a:prstGeom>
          <a:solidFill>
            <a:srgbClr val="0B1F3F"/>
          </a:solidFill>
          <a:ln w="12700">
            <a:solidFill>
              <a:srgbClr val="0B1F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Stage 2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Arial"/>
              </a:rPr>
              <a:t>↓2 + 2× 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2798064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5A6373"/>
                </a:solidFill>
                <a:latin typeface="Arial"/>
              </a:rPr>
              <a:t>56×56×128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90288" y="2263140"/>
            <a:ext cx="237744" cy="0"/>
          </a:xfrm>
          <a:prstGeom prst="line">
            <a:avLst/>
          </a:prstGeom>
          <a:ln w="15875">
            <a:solidFill>
              <a:srgbClr val="0B1F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217920" y="1828800"/>
            <a:ext cx="1097280" cy="868680"/>
          </a:xfrm>
          <a:prstGeom prst="roundRect">
            <a:avLst>
              <a:gd name="adj" fmla="val 12000"/>
            </a:avLst>
          </a:prstGeom>
          <a:solidFill>
            <a:srgbClr val="0B1F3F"/>
          </a:solidFill>
          <a:ln w="12700">
            <a:solidFill>
              <a:srgbClr val="0B1F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Stage 3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Arial"/>
              </a:rPr>
              <a:t>↓2 + 2× 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2798064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5A6373"/>
                </a:solidFill>
                <a:latin typeface="Arial"/>
              </a:rPr>
              <a:t>28×28×256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61888" y="2263140"/>
            <a:ext cx="237744" cy="0"/>
          </a:xfrm>
          <a:prstGeom prst="line">
            <a:avLst/>
          </a:prstGeom>
          <a:ln w="15875">
            <a:solidFill>
              <a:srgbClr val="0B1F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589520" y="1828800"/>
            <a:ext cx="1097280" cy="868680"/>
          </a:xfrm>
          <a:prstGeom prst="roundRect">
            <a:avLst>
              <a:gd name="adj" fmla="val 12000"/>
            </a:avLst>
          </a:prstGeom>
          <a:solidFill>
            <a:srgbClr val="0B1F3F"/>
          </a:solidFill>
          <a:ln w="12700">
            <a:solidFill>
              <a:srgbClr val="0B1F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Stage 4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Arial"/>
              </a:rPr>
              <a:t>↓2 + 1× 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0" y="2798064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5A6373"/>
                </a:solidFill>
                <a:latin typeface="Arial"/>
              </a:rPr>
              <a:t>14×14×256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333488" y="2263140"/>
            <a:ext cx="237744" cy="0"/>
          </a:xfrm>
          <a:prstGeom prst="line">
            <a:avLst/>
          </a:prstGeom>
          <a:ln w="15875">
            <a:solidFill>
              <a:srgbClr val="0B1F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961120" y="1828800"/>
            <a:ext cx="109728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B1F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0B1F3F"/>
                </a:solidFill>
                <a:latin typeface="Arial"/>
              </a:rPr>
              <a:t>GAP</a:t>
            </a:r>
          </a:p>
          <a:p>
            <a:pPr algn="ctr"/>
            <a:r>
              <a:rPr sz="1000" b="0">
                <a:solidFill>
                  <a:srgbClr val="0B1F3F"/>
                </a:solidFill>
                <a:latin typeface="Arial"/>
              </a:rPr>
              <a:t>Avg pool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2798064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5A6373"/>
                </a:solidFill>
                <a:latin typeface="Arial"/>
              </a:rPr>
              <a:t>256-d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705088" y="2263140"/>
            <a:ext cx="237744" cy="0"/>
          </a:xfrm>
          <a:prstGeom prst="line">
            <a:avLst/>
          </a:prstGeom>
          <a:ln w="15875">
            <a:solidFill>
              <a:srgbClr val="0B1F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0332720" y="1828800"/>
            <a:ext cx="109728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B1F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0B1F3F"/>
                </a:solidFill>
                <a:latin typeface="Arial"/>
              </a:rPr>
              <a:t>Head</a:t>
            </a:r>
          </a:p>
          <a:p>
            <a:pPr algn="ctr"/>
            <a:r>
              <a:rPr sz="1000" b="0">
                <a:solidFill>
                  <a:srgbClr val="0B1F3F"/>
                </a:solidFill>
                <a:latin typeface="Arial"/>
              </a:rPr>
              <a:t>MLP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2798064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5A6373"/>
                </a:solidFill>
                <a:latin typeface="Arial"/>
              </a:rPr>
              <a:t>5 logits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076688" y="2263140"/>
            <a:ext cx="237744" cy="0"/>
          </a:xfrm>
          <a:prstGeom prst="line">
            <a:avLst/>
          </a:prstGeom>
          <a:ln w="15875">
            <a:solidFill>
              <a:srgbClr val="0B1F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57200" y="3474720"/>
            <a:ext cx="256032" cy="256032"/>
          </a:xfrm>
          <a:prstGeom prst="roundRect">
            <a:avLst/>
          </a:prstGeom>
          <a:solidFill>
            <a:srgbClr val="0B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3493008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0B1F3F"/>
                </a:solidFill>
                <a:latin typeface="Arial"/>
              </a:rPr>
              <a:t>DESIGN CHOICES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886200"/>
            <a:ext cx="475488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>
              <a:spcAft>
                <a:spcPts val="900"/>
              </a:spcAft>
              <a:buChar char="•"/>
            </a:pPr>
            <a:r>
              <a:rPr sz="1300" b="1">
                <a:solidFill>
                  <a:srgbClr val="0B1F3F"/>
                </a:solidFill>
                <a:latin typeface="Arial"/>
              </a:rPr>
              <a:t>From scratch: </a:t>
            </a:r>
            <a:r>
              <a:rPr sz="1300" b="0">
                <a:solidFill>
                  <a:srgbClr val="0B1F3F"/>
                </a:solidFill>
                <a:latin typeface="Arial"/>
              </a:rPr>
              <a:t>random initialisation, no pretrained weights</a:t>
            </a:r>
          </a:p>
          <a:p>
            <a:pPr marL="182880" indent="-182880">
              <a:spcAft>
                <a:spcPts val="900"/>
              </a:spcAft>
              <a:buChar char="•"/>
            </a:pPr>
            <a:r>
              <a:rPr sz="1300" b="1">
                <a:solidFill>
                  <a:srgbClr val="0B1F3F"/>
                </a:solidFill>
                <a:latin typeface="Arial"/>
              </a:rPr>
              <a:t>Four stages: </a:t>
            </a:r>
            <a:r>
              <a:rPr sz="1300" b="0">
                <a:solidFill>
                  <a:srgbClr val="0B1F3F"/>
                </a:solidFill>
                <a:latin typeface="Arial"/>
              </a:rPr>
              <a:t>64 → 128 → 256 → 256 channels</a:t>
            </a:r>
          </a:p>
          <a:p>
            <a:pPr marL="182880" indent="-182880">
              <a:spcAft>
                <a:spcPts val="900"/>
              </a:spcAft>
              <a:buChar char="•"/>
            </a:pPr>
            <a:r>
              <a:rPr sz="1300" b="1">
                <a:solidFill>
                  <a:srgbClr val="0B1F3F"/>
                </a:solidFill>
                <a:latin typeface="Arial"/>
              </a:rPr>
              <a:t>Overall stride 16: </a:t>
            </a:r>
            <a:r>
              <a:rPr sz="1300" b="0">
                <a:solidFill>
                  <a:srgbClr val="0B1F3F"/>
                </a:solidFill>
                <a:latin typeface="Arial"/>
              </a:rPr>
              <a:t>224×224 input reduced to a 14×14 map</a:t>
            </a:r>
          </a:p>
          <a:p>
            <a:pPr marL="182880" indent="-182880">
              <a:spcAft>
                <a:spcPts val="900"/>
              </a:spcAft>
              <a:buChar char="•"/>
            </a:pPr>
            <a:r>
              <a:rPr sz="1300" b="1">
                <a:solidFill>
                  <a:srgbClr val="0B1F3F"/>
                </a:solidFill>
                <a:latin typeface="Arial"/>
              </a:rPr>
              <a:t>Downsampling: </a:t>
            </a:r>
            <a:r>
              <a:rPr sz="1300" b="0">
                <a:solidFill>
                  <a:srgbClr val="0B1F3F"/>
                </a:solidFill>
                <a:latin typeface="Arial"/>
              </a:rPr>
              <a:t>stride-2 convolutions instead of pooling</a:t>
            </a:r>
          </a:p>
          <a:p>
            <a:pPr marL="182880" indent="-182880">
              <a:spcAft>
                <a:spcPts val="900"/>
              </a:spcAft>
              <a:buChar char="•"/>
            </a:pPr>
            <a:r>
              <a:rPr sz="1300" b="1">
                <a:solidFill>
                  <a:srgbClr val="0B1F3F"/>
                </a:solidFill>
                <a:latin typeface="Arial"/>
              </a:rPr>
              <a:t>Compact: </a:t>
            </a:r>
            <a:r>
              <a:rPr sz="1300" b="0">
                <a:solidFill>
                  <a:srgbClr val="0B1F3F"/>
                </a:solidFill>
                <a:latin typeface="Arial"/>
              </a:rPr>
              <a:t>about 25 minutes per model on a Kaggle T4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577840" y="3474720"/>
            <a:ext cx="256032" cy="256032"/>
          </a:xfrm>
          <a:prstGeom prst="roundRect">
            <a:avLst/>
          </a:prstGeom>
          <a:solidFill>
            <a:srgbClr val="0B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3493008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0B1F3F"/>
                </a:solidFill>
                <a:latin typeface="Arial"/>
              </a:rPr>
              <a:t>PARAMETERS BY COMPONENT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5577840" y="3886200"/>
          <a:ext cx="6153912" cy="240944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75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Component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Output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Parameters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Share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0B1F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Entry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112×112×64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1,856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&lt; 0.1 %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Stage 1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112×112×64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147,968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2.8 %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Stage 2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56×56×128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664,832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12.5 %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Stage 3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28×28×256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2,656,768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50.0 %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Stage 4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14×14×256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1,771,008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33.4 %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Head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5 logits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67,333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1.3 %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1F3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CFDC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CFDC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B1F3F"/>
                          </a:solidFill>
                          <a:latin typeface="Arial"/>
                        </a:rPr>
                        <a:t>5,309,765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CFDC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B1F3F"/>
                          </a:solidFill>
                          <a:latin typeface="Arial"/>
                        </a:rPr>
                        <a:t>100 %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CFD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64008" cy="475488"/>
          </a:xfrm>
          <a:prstGeom prst="rect">
            <a:avLst/>
          </a:prstGeom>
          <a:solidFill>
            <a:srgbClr val="0B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B1F3F"/>
                </a:solidFill>
                <a:latin typeface="Arial"/>
              </a:rPr>
              <a:t>Model 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4980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A6373"/>
                </a:solidFill>
                <a:latin typeface="Arial"/>
              </a:rPr>
              <a:t>End-to-end pipeline: self-supervised init, label cleaning, four ResNet seeds, ensemble and decoding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74552" cy="12801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A6373"/>
                </a:solidFill>
                <a:latin typeface="Arial"/>
              </a:rPr>
              <a:t>Knee Osteoarthritis KL-Grade Classification Using ResNet   ·   Deep Learning   ·   22AIE304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73952"/>
            <a:ext cx="13990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0B1F3F"/>
                </a:solidFill>
                <a:latin typeface="Arial"/>
              </a:rPr>
              <a:t>4 / 16</a:t>
            </a:r>
          </a:p>
        </p:txBody>
      </p:sp>
      <p:pic>
        <p:nvPicPr>
          <p:cNvPr id="8" name="Model architecture diagram" descr="Diagram of the from-scratch ResNet ensemble: rotation pre-training and CleanLab feed four ResNet seeds, followed by k-weighted ensemble and class-bias decoding to a KL grade G0-G4"/>
          <p:cNvPicPr>
            <a:picLocks noChangeAspect="1"/>
          </p:cNvPicPr>
          <p:nvPr/>
        </p:nvPicPr>
        <p:blipFill>
          <a:blip r:embed="rId2"/>
          <a:srcRect t="1200"/>
          <a:stretch>
            <a:fillRect/>
          </a:stretch>
        </p:blipFill>
        <p:spPr>
          <a:xfrm>
            <a:off x="457200" y="1555561"/>
            <a:ext cx="11274552" cy="43946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64008" cy="475488"/>
          </a:xfrm>
          <a:prstGeom prst="rect">
            <a:avLst/>
          </a:prstGeom>
          <a:solidFill>
            <a:srgbClr val="0B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B1F3F"/>
                </a:solidFill>
                <a:latin typeface="Arial"/>
              </a:rPr>
              <a:t>Components: Residual Block &amp; Downsampling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4980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A6373"/>
                </a:solidFill>
                <a:latin typeface="Arial"/>
              </a:rPr>
              <a:t>The two building blocks that make up Stages 1 to 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74552" cy="12801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A6373"/>
                </a:solidFill>
                <a:latin typeface="Arial"/>
              </a:rPr>
              <a:t>Knee Osteoarthritis KL-Grade Classification Using ResNet   ·   Deep Learning   ·   22AIE304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73952"/>
            <a:ext cx="13990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0B1F3F"/>
                </a:solidFill>
                <a:latin typeface="Arial"/>
              </a:rPr>
              <a:t>5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5120640" cy="4846320"/>
          </a:xfrm>
          <a:prstGeom prst="rect">
            <a:avLst/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148132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0B1F3F"/>
                </a:solidFill>
                <a:latin typeface="Arial"/>
              </a:rPr>
              <a:t>Input  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2103120"/>
            <a:ext cx="2011680" cy="411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B1F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0B1F3F"/>
                </a:solidFill>
                <a:latin typeface="Arial"/>
              </a:rPr>
              <a:t>Conv 3×3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2697480"/>
            <a:ext cx="2011680" cy="411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B1F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0B1F3F"/>
                </a:solidFill>
                <a:latin typeface="Arial"/>
              </a:rPr>
              <a:t>BatchNorm + ReLU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3291840"/>
            <a:ext cx="2011680" cy="411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B1F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0B1F3F"/>
                </a:solidFill>
                <a:latin typeface="Arial"/>
              </a:rPr>
              <a:t>Conv 3×3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3886200"/>
            <a:ext cx="2011680" cy="411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B1F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0B1F3F"/>
                </a:solidFill>
                <a:latin typeface="Arial"/>
              </a:rPr>
              <a:t>BatchNorm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77440" y="1783080"/>
            <a:ext cx="0" cy="320040"/>
          </a:xfrm>
          <a:prstGeom prst="line">
            <a:avLst/>
          </a:prstGeom>
          <a:ln w="15875">
            <a:solidFill>
              <a:srgbClr val="0B1F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377440" y="2514600"/>
            <a:ext cx="0" cy="182880"/>
          </a:xfrm>
          <a:prstGeom prst="line">
            <a:avLst/>
          </a:prstGeom>
          <a:ln w="15875">
            <a:solidFill>
              <a:srgbClr val="0B1F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377440" y="3108960"/>
            <a:ext cx="0" cy="182880"/>
          </a:xfrm>
          <a:prstGeom prst="line">
            <a:avLst/>
          </a:prstGeom>
          <a:ln w="15875">
            <a:solidFill>
              <a:srgbClr val="0B1F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377440" y="3703320"/>
            <a:ext cx="0" cy="182880"/>
          </a:xfrm>
          <a:prstGeom prst="line">
            <a:avLst/>
          </a:prstGeom>
          <a:ln w="15875">
            <a:solidFill>
              <a:srgbClr val="0B1F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377440" y="4297680"/>
            <a:ext cx="0" cy="228600"/>
          </a:xfrm>
          <a:prstGeom prst="line">
            <a:avLst/>
          </a:prstGeom>
          <a:ln w="15875">
            <a:solidFill>
              <a:srgbClr val="0B1F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2148840" y="4526280"/>
            <a:ext cx="457200" cy="457200"/>
          </a:xfrm>
          <a:prstGeom prst="ellipse">
            <a:avLst/>
          </a:prstGeom>
          <a:solidFill>
            <a:srgbClr val="0B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+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377440" y="4983480"/>
            <a:ext cx="0" cy="228600"/>
          </a:xfrm>
          <a:prstGeom prst="line">
            <a:avLst/>
          </a:prstGeom>
          <a:ln w="15875">
            <a:solidFill>
              <a:srgbClr val="0B1F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371600" y="5212080"/>
            <a:ext cx="2011680" cy="411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B1F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0B1F3F"/>
                </a:solidFill>
                <a:latin typeface="Arial"/>
              </a:rPr>
              <a:t>ReLU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377440" y="5623560"/>
            <a:ext cx="0" cy="182880"/>
          </a:xfrm>
          <a:prstGeom prst="line">
            <a:avLst/>
          </a:prstGeom>
          <a:ln w="15875">
            <a:solidFill>
              <a:srgbClr val="0B1F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371600" y="583387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0B1F3F"/>
                </a:solidFill>
                <a:latin typeface="Arial"/>
              </a:rPr>
              <a:t>Output  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377440" y="1938528"/>
            <a:ext cx="1920240" cy="0"/>
          </a:xfrm>
          <a:prstGeom prst="line">
            <a:avLst/>
          </a:prstGeom>
          <a:ln w="19050">
            <a:solidFill>
              <a:srgbClr val="0B1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297680" y="1938528"/>
            <a:ext cx="0" cy="2816352"/>
          </a:xfrm>
          <a:prstGeom prst="line">
            <a:avLst/>
          </a:prstGeom>
          <a:ln w="19050">
            <a:solidFill>
              <a:srgbClr val="0B1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2624328" y="4754880"/>
            <a:ext cx="1673352" cy="0"/>
          </a:xfrm>
          <a:prstGeom prst="line">
            <a:avLst/>
          </a:prstGeom>
          <a:ln w="19050">
            <a:solidFill>
              <a:srgbClr val="0B1F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434840" y="3017520"/>
            <a:ext cx="1051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F"/>
                </a:solidFill>
                <a:latin typeface="Arial"/>
              </a:rPr>
              <a:t>identity</a:t>
            </a:r>
          </a:p>
          <a:p>
            <a:pPr algn="l"/>
            <a:r>
              <a:rPr sz="1200" b="1">
                <a:solidFill>
                  <a:srgbClr val="0B1F3F"/>
                </a:solidFill>
                <a:latin typeface="Arial"/>
              </a:rPr>
              <a:t>skip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1371600"/>
            <a:ext cx="256032" cy="256032"/>
          </a:xfrm>
          <a:prstGeom prst="roundRect">
            <a:avLst/>
          </a:prstGeom>
          <a:solidFill>
            <a:srgbClr val="0B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1389888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0B1F3F"/>
                </a:solidFill>
                <a:latin typeface="Arial"/>
              </a:rPr>
              <a:t>RESIDUAL BLOCK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1755648"/>
            <a:ext cx="5760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0B1F3F"/>
                </a:solidFill>
                <a:latin typeface="Arial"/>
              </a:rPr>
              <a:t>Two 3×3 convolutions with batch normalisation. The input is added back before the final ReLU: add, then activate.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2468880"/>
            <a:ext cx="5788152" cy="457200"/>
          </a:xfrm>
          <a:prstGeom prst="rect">
            <a:avLst/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80760" y="2468880"/>
            <a:ext cx="5577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0B1F3F"/>
                </a:solidFill>
                <a:latin typeface="Cambria"/>
              </a:rPr>
              <a:t>y = ReLU( BN(Conv(ReLU(BN(Conv(x))))) + x 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0" y="3200400"/>
            <a:ext cx="256032" cy="256032"/>
          </a:xfrm>
          <a:prstGeom prst="roundRect">
            <a:avLst/>
          </a:prstGeom>
          <a:solidFill>
            <a:srgbClr val="0B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3218688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0B1F3F"/>
                </a:solidFill>
                <a:latin typeface="Arial"/>
              </a:rPr>
              <a:t>WHY IT HELPS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3584448"/>
            <a:ext cx="5760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0B1F3F"/>
                </a:solidFill>
                <a:latin typeface="Arial"/>
              </a:rPr>
              <a:t>The identity path gives gradients a direct route to early layers, which makes a four-stage network trainable from scratch.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0" y="4343400"/>
            <a:ext cx="256032" cy="256032"/>
          </a:xfrm>
          <a:prstGeom prst="roundRect">
            <a:avLst/>
          </a:prstGeom>
          <a:solidFill>
            <a:srgbClr val="0B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4361688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0B1F3F"/>
                </a:solidFill>
                <a:latin typeface="Arial"/>
              </a:rPr>
              <a:t>DOWNSAMPLING BETWEEN STAGES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4727448"/>
            <a:ext cx="5760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0B1F3F"/>
                </a:solidFill>
                <a:latin typeface="Arial"/>
              </a:rPr>
              <a:t>A stride-2 3×3 Conv-BN-ReLU halves the resolution and widens the channels (64 → 128 → 256), replacing pooling.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0" y="5440680"/>
            <a:ext cx="2862072" cy="777240"/>
          </a:xfrm>
          <a:prstGeom prst="rect">
            <a:avLst/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080760" y="5486400"/>
            <a:ext cx="10972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0B1F3F"/>
                </a:solidFill>
                <a:latin typeface="Arial"/>
              </a:rPr>
              <a:t>74 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3760" y="5486400"/>
            <a:ext cx="15087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5A6373"/>
                </a:solidFill>
                <a:latin typeface="Arial"/>
              </a:rPr>
              <a:t>parameters in a ResBlock at 64 channels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869680" y="5440680"/>
            <a:ext cx="2862072" cy="777240"/>
          </a:xfrm>
          <a:prstGeom prst="rect">
            <a:avLst/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006840" y="5486400"/>
            <a:ext cx="10972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0B1F3F"/>
                </a:solidFill>
                <a:latin typeface="Arial"/>
              </a:rPr>
              <a:t>1.18 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49840" y="5486400"/>
            <a:ext cx="15087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5A6373"/>
                </a:solidFill>
                <a:latin typeface="Arial"/>
              </a:rPr>
              <a:t>parameters in a ResBlock at 256 channels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64008" cy="475488"/>
          </a:xfrm>
          <a:prstGeom prst="rect">
            <a:avLst/>
          </a:prstGeom>
          <a:solidFill>
            <a:srgbClr val="0B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B1F3F"/>
                </a:solidFill>
                <a:latin typeface="Arial"/>
              </a:rPr>
              <a:t>Components: Entry, Pooling &amp; Classification 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4980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A6373"/>
                </a:solidFill>
                <a:latin typeface="Arial"/>
              </a:rPr>
              <a:t>How the image is lifted into features and turned into a grade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74552" cy="12801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A6373"/>
                </a:solidFill>
                <a:latin typeface="Arial"/>
              </a:rPr>
              <a:t>Knee Osteoarthritis KL-Grade Classification Using ResNet   ·   Deep Learning   ·   22AIE304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73952"/>
            <a:ext cx="13990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0B1F3F"/>
                </a:solidFill>
                <a:latin typeface="Arial"/>
              </a:rPr>
              <a:t>6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611880" cy="3429000"/>
          </a:xfrm>
          <a:prstGeom prst="rect">
            <a:avLst/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0080" y="1508760"/>
            <a:ext cx="256032" cy="256032"/>
          </a:xfrm>
          <a:prstGeom prst="roundRect">
            <a:avLst/>
          </a:prstGeom>
          <a:solidFill>
            <a:srgbClr val="0B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527048"/>
            <a:ext cx="27889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0B1F3F"/>
                </a:solidFill>
                <a:latin typeface="Arial"/>
              </a:rPr>
              <a:t>ENTRY BLOCK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965960"/>
            <a:ext cx="2971800" cy="310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B1F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50" b="1">
                <a:solidFill>
                  <a:srgbClr val="0B1F3F"/>
                </a:solidFill>
                <a:latin typeface="Arial"/>
              </a:rPr>
              <a:t>Conv 3×3,  3 → 64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350008"/>
            <a:ext cx="2971800" cy="310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B1F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50" b="1">
                <a:solidFill>
                  <a:srgbClr val="0B1F3F"/>
                </a:solidFill>
                <a:latin typeface="Arial"/>
              </a:rPr>
              <a:t>BatchNorm + ReLU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734056"/>
            <a:ext cx="2971800" cy="310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B1F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50" b="1">
                <a:solidFill>
                  <a:srgbClr val="0B1F3F"/>
                </a:solidFill>
                <a:latin typeface="Arial"/>
              </a:rPr>
              <a:t>MaxPool 2×2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611880"/>
            <a:ext cx="3246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0B1F3F"/>
                </a:solidFill>
                <a:latin typeface="Arial"/>
              </a:rPr>
              <a:t>Lifts the 3-channel input to 64 feature maps and halves the resolution from 224 to 112.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5196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0B1F3F"/>
                </a:solidFill>
                <a:latin typeface="Arial"/>
              </a:rPr>
              <a:t>1,856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25196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5A6373"/>
                </a:solidFill>
                <a:latin typeface="Arial"/>
              </a:rPr>
              <a:t>parameters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88536" y="1371600"/>
            <a:ext cx="3611880" cy="3429000"/>
          </a:xfrm>
          <a:prstGeom prst="rect">
            <a:avLst/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471416" y="1508760"/>
            <a:ext cx="256032" cy="256032"/>
          </a:xfrm>
          <a:prstGeom prst="roundRect">
            <a:avLst/>
          </a:prstGeom>
          <a:solidFill>
            <a:srgbClr val="0B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37176" y="1527048"/>
            <a:ext cx="27889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0B1F3F"/>
                </a:solidFill>
                <a:latin typeface="Arial"/>
              </a:rPr>
              <a:t>GLOBAL AVERAGE POOLING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08576" y="1965960"/>
            <a:ext cx="2971800" cy="310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B1F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50" b="1">
                <a:solidFill>
                  <a:srgbClr val="0B1F3F"/>
                </a:solidFill>
                <a:latin typeface="Arial"/>
              </a:rPr>
              <a:t>14×14×256 feature map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08576" y="2350008"/>
            <a:ext cx="2971800" cy="310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B1F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50" b="1">
                <a:solidFill>
                  <a:srgbClr val="0B1F3F"/>
                </a:solidFill>
                <a:latin typeface="Arial"/>
              </a:rPr>
              <a:t>Adaptive average pool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08576" y="2734056"/>
            <a:ext cx="2971800" cy="310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B1F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50" b="1">
                <a:solidFill>
                  <a:srgbClr val="0B1F3F"/>
                </a:solidFill>
                <a:latin typeface="Arial"/>
              </a:rPr>
              <a:t>256-d vector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71416" y="3611880"/>
            <a:ext cx="3246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0B1F3F"/>
                </a:solidFill>
                <a:latin typeface="Arial"/>
              </a:rPr>
              <a:t>Averages each channel over space into a fixed-length descriptor that tolerates small shifts of the joint.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71416" y="425196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0B1F3F"/>
                </a:solidFill>
                <a:latin typeface="Arial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37176" y="425196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5A6373"/>
                </a:solidFill>
                <a:latin typeface="Arial"/>
              </a:rPr>
              <a:t>parameters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19872" y="1371600"/>
            <a:ext cx="3611880" cy="3429000"/>
          </a:xfrm>
          <a:prstGeom prst="rect">
            <a:avLst/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302752" y="1508760"/>
            <a:ext cx="256032" cy="256032"/>
          </a:xfrm>
          <a:prstGeom prst="roundRect">
            <a:avLst/>
          </a:prstGeom>
          <a:solidFill>
            <a:srgbClr val="0B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68512" y="1527048"/>
            <a:ext cx="27889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0B1F3F"/>
                </a:solidFill>
                <a:latin typeface="Arial"/>
              </a:rPr>
              <a:t>CLASSIFICATION HEAD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39912" y="1965960"/>
            <a:ext cx="2971800" cy="310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B1F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50" b="1">
                <a:solidFill>
                  <a:srgbClr val="0B1F3F"/>
                </a:solidFill>
                <a:latin typeface="Arial"/>
              </a:rPr>
              <a:t>Linear 256 → 256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39912" y="2350008"/>
            <a:ext cx="2971800" cy="310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B1F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50" b="1">
                <a:solidFill>
                  <a:srgbClr val="0B1F3F"/>
                </a:solidFill>
                <a:latin typeface="Arial"/>
              </a:rPr>
              <a:t>BatchNorm + ReLU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39912" y="2734056"/>
            <a:ext cx="2971800" cy="310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B1F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50" b="1">
                <a:solidFill>
                  <a:srgbClr val="0B1F3F"/>
                </a:solidFill>
                <a:latin typeface="Arial"/>
              </a:rPr>
              <a:t>Dropout 0.4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39912" y="3118104"/>
            <a:ext cx="2971800" cy="310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B1F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50" b="1">
                <a:solidFill>
                  <a:srgbClr val="0B1F3F"/>
                </a:solidFill>
                <a:latin typeface="Arial"/>
              </a:rPr>
              <a:t>Linear 256 →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2752" y="3611880"/>
            <a:ext cx="3246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0B1F3F"/>
                </a:solidFill>
                <a:latin typeface="Arial"/>
              </a:rPr>
              <a:t>Maps the descriptor to five KL-grade logits; dropout limits over-fitting on the small training set.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02752" y="425196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0B1F3F"/>
                </a:solidFill>
                <a:latin typeface="Arial"/>
              </a:rPr>
              <a:t>67,333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82912" y="425196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5A6373"/>
                </a:solidFill>
                <a:latin typeface="Arial"/>
              </a:rPr>
              <a:t>parameters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029200"/>
            <a:ext cx="256032" cy="256032"/>
          </a:xfrm>
          <a:prstGeom prst="roundRect">
            <a:avLst/>
          </a:prstGeom>
          <a:solidFill>
            <a:srgbClr val="0B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504748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0B1F3F"/>
                </a:solidFill>
                <a:latin typeface="Arial"/>
              </a:rPr>
              <a:t>WHERE THE 5.31 M PARAMETERS SIT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486400"/>
            <a:ext cx="3940" cy="365760"/>
          </a:xfrm>
          <a:prstGeom prst="rect">
            <a:avLst/>
          </a:prstGeom>
          <a:solidFill>
            <a:srgbClr val="8FA5C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61140" y="5486400"/>
            <a:ext cx="314189" cy="365760"/>
          </a:xfrm>
          <a:prstGeom prst="rect">
            <a:avLst/>
          </a:prstGeom>
          <a:solidFill>
            <a:srgbClr val="5E7AA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75330" y="5486400"/>
            <a:ext cx="1411678" cy="365760"/>
          </a:xfrm>
          <a:prstGeom prst="rect">
            <a:avLst/>
          </a:prstGeom>
          <a:solidFill>
            <a:srgbClr val="36558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2187009" y="5486400"/>
            <a:ext cx="5641279" cy="365760"/>
          </a:xfrm>
          <a:prstGeom prst="rect">
            <a:avLst/>
          </a:prstGeom>
          <a:solidFill>
            <a:srgbClr val="0B1F3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828289" y="5486400"/>
            <a:ext cx="3760490" cy="365760"/>
          </a:xfrm>
          <a:prstGeom prst="rect">
            <a:avLst/>
          </a:prstGeom>
          <a:solidFill>
            <a:srgbClr val="243B6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1588779" y="5486400"/>
            <a:ext cx="142972" cy="365760"/>
          </a:xfrm>
          <a:prstGeom prst="rect">
            <a:avLst/>
          </a:prstGeom>
          <a:solidFill>
            <a:srgbClr val="A8B8D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57200" y="594360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A6373"/>
                </a:solidFill>
                <a:latin typeface="Arial"/>
              </a:rPr>
              <a:t>Entry &lt; 0.1 %   Stage 1 2.8 %   Stage 2 12.5 %   Stage 3 50.0 %   Stage 4 33.4 %   Head 1.3 %     (left to right)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64008" cy="475488"/>
          </a:xfrm>
          <a:prstGeom prst="rect">
            <a:avLst/>
          </a:prstGeom>
          <a:solidFill>
            <a:srgbClr val="0B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B1F3F"/>
                </a:solidFill>
                <a:latin typeface="Arial"/>
              </a:rPr>
              <a:t>Training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4980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A6373"/>
                </a:solidFill>
                <a:latin typeface="Arial"/>
              </a:rPr>
              <a:t>Loss, optimisation and inference choices, all tuned on the validation 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74552" cy="12801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A6373"/>
                </a:solidFill>
                <a:latin typeface="Arial"/>
              </a:rPr>
              <a:t>Knee Osteoarthritis KL-Grade Classification Using ResNet   ·   Deep Learning   ·   22AIE304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73952"/>
            <a:ext cx="13990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0B1F3F"/>
                </a:solidFill>
                <a:latin typeface="Arial"/>
              </a:rPr>
              <a:t>7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56032" cy="256032"/>
          </a:xfrm>
          <a:prstGeom prst="roundRect">
            <a:avLst/>
          </a:prstGeom>
          <a:solidFill>
            <a:srgbClr val="0B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89888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0B1F3F"/>
                </a:solidFill>
                <a:latin typeface="Arial"/>
              </a:rPr>
              <a:t>LOSS FUNCTION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83080"/>
            <a:ext cx="539496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>
              <a:spcAft>
                <a:spcPts val="800"/>
              </a:spcAft>
              <a:buChar char="•"/>
            </a:pPr>
            <a:r>
              <a:rPr sz="1300" b="1">
                <a:solidFill>
                  <a:srgbClr val="0B1F3F"/>
                </a:solidFill>
                <a:latin typeface="Arial"/>
              </a:rPr>
              <a:t>Focal loss </a:t>
            </a:r>
            <a:r>
              <a:rPr sz="1300" b="0">
                <a:solidFill>
                  <a:srgbClr val="0B1F3F"/>
                </a:solidFill>
                <a:latin typeface="Arial"/>
              </a:rPr>
              <a:t>(γ = 2) with class weights for the rare G4</a:t>
            </a:r>
          </a:p>
          <a:p>
            <a:pPr marL="182880" indent="-182880">
              <a:spcAft>
                <a:spcPts val="800"/>
              </a:spcAft>
              <a:buChar char="•"/>
            </a:pPr>
            <a:r>
              <a:rPr sz="1300" b="1">
                <a:solidFill>
                  <a:srgbClr val="0B1F3F"/>
                </a:solidFill>
                <a:latin typeface="Arial"/>
              </a:rPr>
              <a:t>Ordinal soft labels: </a:t>
            </a:r>
            <a:r>
              <a:rPr sz="1300" b="0">
                <a:solidFill>
                  <a:srgbClr val="0B1F3F"/>
                </a:solidFill>
                <a:latin typeface="Arial"/>
              </a:rPr>
              <a:t>15 % of the label mass goes to neighbouring grades</a:t>
            </a:r>
          </a:p>
          <a:p>
            <a:pPr marL="182880" indent="-182880">
              <a:spcAft>
                <a:spcPts val="800"/>
              </a:spcAft>
              <a:buChar char="•"/>
            </a:pPr>
            <a:r>
              <a:rPr sz="1300" b="1">
                <a:solidFill>
                  <a:srgbClr val="0B1F3F"/>
                </a:solidFill>
                <a:latin typeface="Arial"/>
              </a:rPr>
              <a:t>Ordinal MSE term </a:t>
            </a:r>
            <a:r>
              <a:rPr sz="1300" b="0">
                <a:solidFill>
                  <a:srgbClr val="0B1F3F"/>
                </a:solidFill>
                <a:latin typeface="Arial"/>
              </a:rPr>
              <a:t>ramped up over 15 epochs (weight 0.05)</a:t>
            </a:r>
          </a:p>
          <a:p>
            <a:pPr marL="182880" indent="-182880">
              <a:spcAft>
                <a:spcPts val="800"/>
              </a:spcAft>
              <a:buChar char="•"/>
            </a:pPr>
            <a:r>
              <a:rPr sz="1300" b="1">
                <a:solidFill>
                  <a:srgbClr val="0B1F3F"/>
                </a:solidFill>
                <a:latin typeface="Arial"/>
              </a:rPr>
              <a:t>CleanLab weights: </a:t>
            </a:r>
            <a:r>
              <a:rPr sz="1300" b="0">
                <a:solidFill>
                  <a:srgbClr val="0B1F3F"/>
                </a:solidFill>
                <a:latin typeface="Arial"/>
              </a:rPr>
              <a:t>suspect labels count 0.3×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840480"/>
            <a:ext cx="256032" cy="256032"/>
          </a:xfrm>
          <a:prstGeom prst="roundRect">
            <a:avLst/>
          </a:prstGeom>
          <a:solidFill>
            <a:srgbClr val="0B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858768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0B1F3F"/>
                </a:solidFill>
                <a:latin typeface="Arial"/>
              </a:rPr>
              <a:t>OPTIMISATION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51960"/>
            <a:ext cx="539496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>
              <a:spcAft>
                <a:spcPts val="800"/>
              </a:spcAft>
              <a:buChar char="•"/>
            </a:pPr>
            <a:r>
              <a:rPr sz="1300" b="1">
                <a:solidFill>
                  <a:srgbClr val="0B1F3F"/>
                </a:solidFill>
                <a:latin typeface="Arial"/>
              </a:rPr>
              <a:t>AdamW: </a:t>
            </a:r>
            <a:r>
              <a:rPr sz="1300" b="0">
                <a:solidFill>
                  <a:srgbClr val="0B1F3F"/>
                </a:solidFill>
                <a:latin typeface="Arial"/>
              </a:rPr>
              <a:t>lr 1e-3, weight decay 2e-2 (not on BatchNorm or bias)</a:t>
            </a:r>
          </a:p>
          <a:p>
            <a:pPr marL="182880" indent="-182880">
              <a:spcAft>
                <a:spcPts val="800"/>
              </a:spcAft>
              <a:buChar char="•"/>
            </a:pPr>
            <a:r>
              <a:rPr sz="1300" b="1">
                <a:solidFill>
                  <a:srgbClr val="0B1F3F"/>
                </a:solidFill>
                <a:latin typeface="Arial"/>
              </a:rPr>
              <a:t>Schedule: </a:t>
            </a:r>
            <a:r>
              <a:rPr sz="1300" b="0">
                <a:solidFill>
                  <a:srgbClr val="0B1F3F"/>
                </a:solidFill>
                <a:latin typeface="Arial"/>
              </a:rPr>
              <a:t>3-epoch warm-up, then per-step cosine to 0</a:t>
            </a:r>
          </a:p>
          <a:p>
            <a:pPr marL="182880" indent="-182880">
              <a:spcAft>
                <a:spcPts val="800"/>
              </a:spcAft>
              <a:buChar char="•"/>
            </a:pPr>
            <a:r>
              <a:rPr sz="1300" b="1">
                <a:solidFill>
                  <a:srgbClr val="0B1F3F"/>
                </a:solidFill>
                <a:latin typeface="Arial"/>
              </a:rPr>
              <a:t>Weight EMA 0.998; </a:t>
            </a:r>
            <a:r>
              <a:rPr sz="1300" b="0">
                <a:solidFill>
                  <a:srgbClr val="0B1F3F"/>
                </a:solidFill>
                <a:latin typeface="Arial"/>
              </a:rPr>
              <a:t>checkpoint chosen by validation κ</a:t>
            </a:r>
          </a:p>
          <a:p>
            <a:pPr marL="182880" indent="-182880">
              <a:spcAft>
                <a:spcPts val="800"/>
              </a:spcAft>
              <a:buChar char="•"/>
            </a:pPr>
            <a:r>
              <a:rPr sz="1300" b="1">
                <a:solidFill>
                  <a:srgbClr val="0B1F3F"/>
                </a:solidFill>
                <a:latin typeface="Arial"/>
              </a:rPr>
              <a:t>Mixed precision </a:t>
            </a:r>
            <a:r>
              <a:rPr sz="1300" b="0">
                <a:solidFill>
                  <a:srgbClr val="0B1F3F"/>
                </a:solidFill>
                <a:latin typeface="Arial"/>
              </a:rPr>
              <a:t>(fp16) on a Kaggle T4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371600"/>
            <a:ext cx="256032" cy="256032"/>
          </a:xfrm>
          <a:prstGeom prst="roundRect">
            <a:avLst/>
          </a:prstGeom>
          <a:solidFill>
            <a:srgbClr val="0B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1389888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0B1F3F"/>
                </a:solidFill>
                <a:latin typeface="Arial"/>
              </a:rPr>
              <a:t>AUGMENTATION (ON THE GPU)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783080"/>
            <a:ext cx="5422392" cy="1417320"/>
          </a:xfrm>
          <a:prstGeom prst="rect">
            <a:avLst/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1920240"/>
            <a:ext cx="512064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>
              <a:spcAft>
                <a:spcPts val="600"/>
              </a:spcAft>
              <a:buChar char="•"/>
            </a:pPr>
            <a:r>
              <a:rPr sz="1300" b="0">
                <a:solidFill>
                  <a:srgbClr val="0B1F3F"/>
                </a:solidFill>
                <a:latin typeface="Arial"/>
              </a:rPr>
              <a:t>Rotation ±15°, translation, zoom, horizontal flip</a:t>
            </a:r>
          </a:p>
          <a:p>
            <a:pPr marL="182880" indent="-182880">
              <a:spcAft>
                <a:spcPts val="600"/>
              </a:spcAft>
              <a:buChar char="•"/>
            </a:pPr>
            <a:r>
              <a:rPr sz="1300" b="0">
                <a:solidFill>
                  <a:srgbClr val="0B1F3F"/>
                </a:solidFill>
                <a:latin typeface="Arial"/>
              </a:rPr>
              <a:t>Gamma, brightness and contrast jitter</a:t>
            </a:r>
          </a:p>
          <a:p>
            <a:pPr marL="182880" indent="-182880">
              <a:spcAft>
                <a:spcPts val="600"/>
              </a:spcAft>
              <a:buChar char="•"/>
            </a:pPr>
            <a:r>
              <a:rPr sz="1300" b="0">
                <a:solidFill>
                  <a:srgbClr val="0B1F3F"/>
                </a:solidFill>
                <a:latin typeface="Arial"/>
              </a:rPr>
              <a:t>Gaussian noise and random erasing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429000"/>
            <a:ext cx="256032" cy="256032"/>
          </a:xfrm>
          <a:prstGeom prst="roundRect">
            <a:avLst/>
          </a:prstGeom>
          <a:solidFill>
            <a:srgbClr val="0B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447288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0B1F3F"/>
                </a:solidFill>
                <a:latin typeface="Arial"/>
              </a:rPr>
              <a:t>INFERENCE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840480"/>
            <a:ext cx="5422392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>
              <a:spcAft>
                <a:spcPts val="800"/>
              </a:spcAft>
              <a:buChar char="•"/>
            </a:pPr>
            <a:r>
              <a:rPr sz="1300" b="1">
                <a:solidFill>
                  <a:srgbClr val="0B1F3F"/>
                </a:solidFill>
                <a:latin typeface="Arial"/>
              </a:rPr>
              <a:t>Flip test-time augmentation </a:t>
            </a:r>
            <a:r>
              <a:rPr sz="1300" b="0">
                <a:solidFill>
                  <a:srgbClr val="0B1F3F"/>
                </a:solidFill>
                <a:latin typeface="Arial"/>
              </a:rPr>
              <a:t>on every model</a:t>
            </a:r>
          </a:p>
          <a:p>
            <a:pPr marL="182880" indent="-182880">
              <a:spcAft>
                <a:spcPts val="800"/>
              </a:spcAft>
              <a:buChar char="•"/>
            </a:pPr>
            <a:r>
              <a:rPr sz="1300" b="1">
                <a:solidFill>
                  <a:srgbClr val="0B1F3F"/>
                </a:solidFill>
                <a:latin typeface="Arial"/>
              </a:rPr>
              <a:t>κ-weighted average </a:t>
            </a:r>
            <a:r>
              <a:rPr sz="1300" b="0">
                <a:solidFill>
                  <a:srgbClr val="0B1F3F"/>
                </a:solidFill>
                <a:latin typeface="Arial"/>
              </a:rPr>
              <a:t>of the four seeds</a:t>
            </a:r>
          </a:p>
          <a:p>
            <a:pPr marL="182880" indent="-182880">
              <a:spcAft>
                <a:spcPts val="800"/>
              </a:spcAft>
              <a:buChar char="•"/>
            </a:pPr>
            <a:r>
              <a:rPr sz="1300" b="1">
                <a:solidFill>
                  <a:srgbClr val="0B1F3F"/>
                </a:solidFill>
                <a:latin typeface="Arial"/>
              </a:rPr>
              <a:t>Per-class bias </a:t>
            </a:r>
            <a:r>
              <a:rPr sz="1300" b="0">
                <a:solidFill>
                  <a:srgbClr val="0B1F3F"/>
                </a:solidFill>
                <a:latin typeface="Arial"/>
              </a:rPr>
              <a:t>tuned on validation macro-F1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5394960"/>
            <a:ext cx="5422392" cy="822960"/>
          </a:xfrm>
          <a:prstGeom prst="rect">
            <a:avLst/>
          </a:prstGeom>
          <a:solidFill>
            <a:srgbClr val="0B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0" y="5394960"/>
            <a:ext cx="50749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Nothing is selected or tuned on the test images.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64008" cy="475488"/>
          </a:xfrm>
          <a:prstGeom prst="rect">
            <a:avLst/>
          </a:prstGeom>
          <a:solidFill>
            <a:srgbClr val="0B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B1F3F"/>
                </a:solidFill>
                <a:latin typeface="Arial"/>
              </a:rPr>
              <a:t>Comparison of the Three Architectures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4980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A6373"/>
                </a:solidFill>
                <a:latin typeface="Arial"/>
              </a:rPr>
              <a:t>Same data, same training recipe, four seeds each; scored on all 4,008 test images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74552" cy="12801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A6373"/>
                </a:solidFill>
                <a:latin typeface="Arial"/>
              </a:rPr>
              <a:t>Knee Osteoarthritis KL-Grade Classification Using ResNet   ·   Deep Learning   ·   22AIE304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73952"/>
            <a:ext cx="13990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0B1F3F"/>
                </a:solidFill>
                <a:latin typeface="Arial"/>
              </a:rPr>
              <a:t>8 / 16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371600"/>
          <a:ext cx="11274552" cy="36118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776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990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Architecture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Parameters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Design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Val κ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Test accuracy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Test κ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0B1F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1F3F"/>
                          </a:solidFill>
                          <a:latin typeface="Arial"/>
                        </a:rPr>
                        <a:t>MixedKernelNet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1.24 M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4 conv blocks alternating 3×3 and 5×5 kernels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0.688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54.7 %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0.655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1F3F"/>
                          </a:solidFill>
                          <a:latin typeface="Arial"/>
                        </a:rPr>
                        <a:t>DenseNet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0.23 M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3 dense blocks (growth 16) with 1×1 transitions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0.776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62.0 %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0.752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1F3F"/>
                          </a:solidFill>
                          <a:latin typeface="Arial"/>
                        </a:rPr>
                        <a:t>ResNet (selected)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CFDC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1F3F"/>
                          </a:solidFill>
                          <a:latin typeface="Arial"/>
                        </a:rPr>
                        <a:t>5.31 M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CFDC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1F3F"/>
                          </a:solidFill>
                          <a:latin typeface="Arial"/>
                        </a:rPr>
                        <a:t>4 stages of residual blocks, 64 → 256 channels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CFDC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B1F3F"/>
                          </a:solidFill>
                          <a:latin typeface="Arial"/>
                        </a:rPr>
                        <a:t>0.811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CFDC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B1F3F"/>
                          </a:solidFill>
                          <a:latin typeface="Arial"/>
                        </a:rPr>
                        <a:t>65.5 %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CFDC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B1F3F"/>
                          </a:solidFill>
                          <a:latin typeface="Arial"/>
                        </a:rPr>
                        <a:t>0.817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CFD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1F3F"/>
                          </a:solidFill>
                          <a:latin typeface="Arial"/>
                        </a:rPr>
                        <a:t>Ensemble of all 12 models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κ-weighted, flip TTA, bias tuned on validation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64.72 %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0.796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1F3F"/>
                          </a:solidFill>
                          <a:latin typeface="Arial"/>
                        </a:rPr>
                        <a:t>Ensemble of 4 ResNets (final)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CFDC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1F3F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CFDC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1F3F"/>
                          </a:solidFill>
                          <a:latin typeface="Arial"/>
                        </a:rPr>
                        <a:t>κ-weighted, flip TTA, bias tuned on validation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CFDC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B1F3F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CFDC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B1F3F"/>
                          </a:solidFill>
                          <a:latin typeface="Arial"/>
                        </a:rPr>
                        <a:t>65.67 %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CFDC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B1F3F"/>
                          </a:solidFill>
                          <a:latin typeface="Arial"/>
                        </a:rPr>
                        <a:t>0.813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CFD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2578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5A6373"/>
                </a:solidFill>
                <a:latin typeface="Arial"/>
              </a:rPr>
              <a:t>Note: </a:t>
            </a:r>
            <a:r>
              <a:rPr sz="1050" b="0">
                <a:solidFill>
                  <a:srgbClr val="5A6373"/>
                </a:solidFill>
                <a:latin typeface="Arial"/>
              </a:rPr>
              <a:t>single-model rows are means over seeds 1 to 4 (validation κ is the selection metric); test numbers are for reporting only. The 4-ResNet ensemble comes from a separate ResNet-only run of the same recipe; before bias tuning the two ensembles score 64.67 % / κ 0.787 (12 models) and 65.82 % / κ 0.819 (4 ResNets).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64008" cy="475488"/>
          </a:xfrm>
          <a:prstGeom prst="rect">
            <a:avLst/>
          </a:prstGeom>
          <a:solidFill>
            <a:srgbClr val="0B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B1F3F"/>
                </a:solidFill>
                <a:latin typeface="Arial"/>
              </a:rPr>
              <a:t>Per-Seed Accuracy by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4980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A6373"/>
                </a:solidFill>
                <a:latin typeface="Arial"/>
              </a:rPr>
              <a:t>Each of the 12 models scored on all 4,008 test images; the ranking holds for every seed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74552" cy="12801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A6373"/>
                </a:solidFill>
                <a:latin typeface="Arial"/>
              </a:rPr>
              <a:t>Knee Osteoarthritis KL-Grade Classification Using ResNet   ·   Deep Learning   ·   22AIE304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73952"/>
            <a:ext cx="13990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0B1F3F"/>
                </a:solidFill>
                <a:latin typeface="Arial"/>
              </a:rPr>
              <a:t>9 / 16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371600"/>
            <a:ext cx="256032" cy="256032"/>
          </a:xfrm>
          <a:prstGeom prst="roundRect">
            <a:avLst/>
          </a:prstGeom>
          <a:solidFill>
            <a:srgbClr val="0B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389888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0B1F3F"/>
                </a:solidFill>
                <a:latin typeface="Arial"/>
              </a:rPr>
              <a:t>TEST ACCURACY (%) OF EACH 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1783080"/>
            <a:ext cx="3867912" cy="2103120"/>
          </a:xfrm>
          <a:prstGeom prst="rect">
            <a:avLst/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92440" y="1874519"/>
            <a:ext cx="3410712" cy="1920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3600" b="1">
                <a:solidFill>
                  <a:srgbClr val="0B1F3F"/>
                </a:solidFill>
                <a:latin typeface="Arial"/>
              </a:rPr>
              <a:t>10.8 pts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0B1F3F"/>
                </a:solidFill>
                <a:latin typeface="Arial"/>
              </a:rPr>
              <a:t>higher mean accuracy for ResNet than for MixedKernelNet (65.5 % vs 54.7 %)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373"/>
                </a:solidFill>
                <a:latin typeface="Arial"/>
              </a:rPr>
              <a:t>DenseNet sits in between at 62.0 % with only 0.23 M parameters.</a:t>
            </a:r>
          </a:p>
        </p:txBody>
      </p:sp>
      <p:graphicFrame>
        <p:nvGraphicFramePr>
          <p:cNvPr id="15" name="Per-seed accuracy chart"/>
          <p:cNvGraphicFramePr>
            <a:graphicFrameLocks noGrp="1"/>
          </p:cNvGraphicFramePr>
          <p:nvPr/>
        </p:nvGraphicFramePr>
        <p:xfrm>
          <a:off x="457200" y="1783080"/>
          <a:ext cx="704088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0" name="Callout 90"/>
          <p:cNvSpPr/>
          <p:nvPr/>
        </p:nvSpPr>
        <p:spPr>
          <a:xfrm>
            <a:off x="7863840" y="4114800"/>
            <a:ext cx="3867912" cy="2103120"/>
          </a:xfrm>
          <a:prstGeom prst="rect">
            <a:avLst/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Callout 91"/>
          <p:cNvSpPr txBox="1"/>
          <p:nvPr/>
        </p:nvSpPr>
        <p:spPr>
          <a:xfrm>
            <a:off x="8092440" y="4206240"/>
            <a:ext cx="3410712" cy="1920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3600" b="1">
                <a:solidFill>
                  <a:srgbClr val="0B1F3F"/>
                </a:solidFill>
                <a:latin typeface="Arial"/>
              </a:rPr>
              <a:t>64.67 %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0B1F3F"/>
                </a:solidFill>
                <a:latin typeface="Arial"/>
              </a:rPr>
              <a:t>raw accuracy of the 12-model ensemble, below the best single ResNet (65.99 %)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373"/>
                </a:solidFill>
                <a:latin typeface="Arial"/>
              </a:rPr>
              <a:t>The final ensemble therefore keeps the four ResNets only.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64008" cy="475488"/>
          </a:xfrm>
          <a:prstGeom prst="rect">
            <a:avLst/>
          </a:prstGeom>
          <a:solidFill>
            <a:srgbClr val="0B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B1F3F"/>
                </a:solidFill>
                <a:latin typeface="Arial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4980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A6373"/>
                </a:solidFill>
                <a:latin typeface="Arial"/>
              </a:rPr>
              <a:t>Four-seed ResNet ensemble, trained from scratch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74552" cy="12801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A6373"/>
                </a:solidFill>
                <a:latin typeface="Arial"/>
              </a:rPr>
              <a:t>Knee Osteoarthritis KL-Grade Classification Using ResNet   ·   Deep Learning   ·   22AIE304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73952"/>
            <a:ext cx="13990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0B1F3F"/>
                </a:solidFill>
                <a:latin typeface="Arial"/>
              </a:rPr>
              <a:t>10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2697480" cy="1417320"/>
          </a:xfrm>
          <a:prstGeom prst="rect">
            <a:avLst/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481328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>
                <a:solidFill>
                  <a:srgbClr val="0B1F3F"/>
                </a:solidFill>
                <a:latin typeface="Arial"/>
              </a:rPr>
              <a:t>65.67 %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4884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B1F3F"/>
                </a:solidFill>
                <a:latin typeface="Arial"/>
              </a:rPr>
              <a:t>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423160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A6373"/>
                </a:solidFill>
                <a:latin typeface="Arial"/>
              </a:rPr>
              <a:t>all 4,008 test images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16528" y="1371600"/>
            <a:ext cx="2697480" cy="1417320"/>
          </a:xfrm>
          <a:prstGeom prst="rect">
            <a:avLst/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45128" y="1481328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>
                <a:solidFill>
                  <a:srgbClr val="0B1F3F"/>
                </a:solidFill>
                <a:latin typeface="Arial"/>
              </a:rPr>
              <a:t>0.813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5128" y="214884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B1F3F"/>
                </a:solidFill>
                <a:latin typeface="Arial"/>
              </a:rPr>
              <a:t>Quadratic 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5128" y="2423160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A6373"/>
                </a:solidFill>
                <a:latin typeface="Arial"/>
              </a:rPr>
              <a:t>all 4,008 test images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5857" y="1371600"/>
            <a:ext cx="2697480" cy="1417320"/>
          </a:xfrm>
          <a:prstGeom prst="rect">
            <a:avLst/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4457" y="1481328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>
                <a:solidFill>
                  <a:srgbClr val="0B1F3F"/>
                </a:solidFill>
                <a:latin typeface="Arial"/>
              </a:rPr>
              <a:t>0.665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4457" y="214884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B1F3F"/>
                </a:solidFill>
                <a:latin typeface="Arial"/>
              </a:rPr>
              <a:t>Macro-F1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4457" y="2423160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A6373"/>
                </a:solidFill>
                <a:latin typeface="Arial"/>
              </a:rPr>
              <a:t>all 4,008 test images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35186" y="1371600"/>
            <a:ext cx="2697480" cy="1417320"/>
          </a:xfrm>
          <a:prstGeom prst="rect">
            <a:avLst/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63786" y="1481328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>
                <a:solidFill>
                  <a:srgbClr val="0B1F3F"/>
                </a:solidFill>
                <a:latin typeface="Arial"/>
              </a:rPr>
              <a:t>65.94 %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63786" y="214884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B1F3F"/>
                </a:solidFill>
                <a:latin typeface="Arial"/>
              </a:rPr>
              <a:t>Accuracy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63786" y="2423160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A6373"/>
                </a:solidFill>
                <a:latin typeface="Arial"/>
              </a:rPr>
              <a:t>official 1,656 test images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063240"/>
            <a:ext cx="256032" cy="256032"/>
          </a:xfrm>
          <a:prstGeom prst="roundRect">
            <a:avLst/>
          </a:prstGeom>
          <a:solidFill>
            <a:srgbClr val="0B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08152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0B1F3F"/>
                </a:solidFill>
                <a:latin typeface="Arial"/>
              </a:rPr>
              <a:t>FULL EVALUATION (SCORED ONCE ON TEST)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3474720"/>
          <a:ext cx="11274552" cy="19202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959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Evaluation set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Images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Accuracy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Balanced acc.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Macro-F1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Quad. κ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0B1F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1F3F"/>
                          </a:solidFill>
                          <a:latin typeface="Arial"/>
                        </a:rPr>
                        <a:t>All test – final (bias-tuned)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1F3F"/>
                          </a:solidFill>
                          <a:latin typeface="Arial"/>
                        </a:rPr>
                        <a:t>4,008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1F3F"/>
                          </a:solidFill>
                          <a:latin typeface="Arial"/>
                        </a:rPr>
                        <a:t>65.67 %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1F3F"/>
                          </a:solidFill>
                          <a:latin typeface="Arial"/>
                        </a:rPr>
                        <a:t>0.661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1F3F"/>
                          </a:solidFill>
                          <a:latin typeface="Arial"/>
                        </a:rPr>
                        <a:t>0.665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1F3F"/>
                          </a:solidFill>
                          <a:latin typeface="Arial"/>
                        </a:rPr>
                        <a:t>0.813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1F3F"/>
                          </a:solidFill>
                          <a:latin typeface="Arial"/>
                        </a:rPr>
                        <a:t>All test – raw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1F3F"/>
                          </a:solidFill>
                          <a:latin typeface="Arial"/>
                        </a:rPr>
                        <a:t>4,008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1F3F"/>
                          </a:solidFill>
                          <a:latin typeface="Arial"/>
                        </a:rPr>
                        <a:t>65.82 %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1F3F"/>
                          </a:solidFill>
                          <a:latin typeface="Arial"/>
                        </a:rPr>
                        <a:t>0.684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1F3F"/>
                          </a:solidFill>
                          <a:latin typeface="Arial"/>
                        </a:rPr>
                        <a:t>0.672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1F3F"/>
                          </a:solidFill>
                          <a:latin typeface="Arial"/>
                        </a:rPr>
                        <a:t>0.819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1F3F"/>
                          </a:solidFill>
                          <a:latin typeface="Arial"/>
                        </a:rPr>
                        <a:t>Official test – final (bias-tuned)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1F3F"/>
                          </a:solidFill>
                          <a:latin typeface="Arial"/>
                        </a:rPr>
                        <a:t>1,656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1F3F"/>
                          </a:solidFill>
                          <a:latin typeface="Arial"/>
                        </a:rPr>
                        <a:t>65.94 %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1F3F"/>
                          </a:solidFill>
                          <a:latin typeface="Arial"/>
                        </a:rPr>
                        <a:t>0.657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1F3F"/>
                          </a:solidFill>
                          <a:latin typeface="Arial"/>
                        </a:rPr>
                        <a:t>0.661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1F3F"/>
                          </a:solidFill>
                          <a:latin typeface="Arial"/>
                        </a:rPr>
                        <a:t>0.825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1F3F"/>
                          </a:solidFill>
                          <a:latin typeface="Arial"/>
                        </a:rPr>
                        <a:t>Official test – raw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1F3F"/>
                          </a:solidFill>
                          <a:latin typeface="Arial"/>
                        </a:rPr>
                        <a:t>1,656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1F3F"/>
                          </a:solidFill>
                          <a:latin typeface="Arial"/>
                        </a:rPr>
                        <a:t>66.61 %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1F3F"/>
                          </a:solidFill>
                          <a:latin typeface="Arial"/>
                        </a:rPr>
                        <a:t>0.689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1F3F"/>
                          </a:solidFill>
                          <a:latin typeface="Arial"/>
                        </a:rPr>
                        <a:t>0.677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1F3F"/>
                          </a:solidFill>
                          <a:latin typeface="Arial"/>
                        </a:rPr>
                        <a:t>0.833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457200" y="55321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5A6373"/>
                </a:solidFill>
                <a:latin typeface="Arial"/>
              </a:rPr>
              <a:t>Final </a:t>
            </a:r>
            <a:r>
              <a:rPr sz="1200" b="0">
                <a:solidFill>
                  <a:srgbClr val="5A6373"/>
                </a:solidFill>
                <a:latin typeface="Arial"/>
              </a:rPr>
              <a:t>applies the per-class bias tuned on validation; </a:t>
            </a:r>
            <a:r>
              <a:rPr sz="1200" b="1">
                <a:solidFill>
                  <a:srgbClr val="5A6373"/>
                </a:solidFill>
                <a:latin typeface="Arial"/>
              </a:rPr>
              <a:t>raw </a:t>
            </a:r>
            <a:r>
              <a:rPr sz="1200" b="0">
                <a:solidFill>
                  <a:srgbClr val="5A6373"/>
                </a:solidFill>
                <a:latin typeface="Arial"/>
              </a:rPr>
              <a:t>is the plain κ-weighted ensemble. Bias tuning trades about 0.2 points of accuracy for better balance between grades; both are reported.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64008" cy="475488"/>
          </a:xfrm>
          <a:prstGeom prst="rect">
            <a:avLst/>
          </a:prstGeom>
          <a:solidFill>
            <a:srgbClr val="0B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B1F3F"/>
                </a:solidFill>
                <a:latin typeface="Arial"/>
              </a:rPr>
              <a:t>Confusion Matrices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4980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A6373"/>
                </a:solidFill>
                <a:latin typeface="Arial"/>
              </a:rPr>
              <a:t>Raw ensemble (left) and final bias-tuned ensemble (right) on all 4,008 test images; rows = true grade, columns = predicted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74552" cy="12801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A6373"/>
                </a:solidFill>
                <a:latin typeface="Arial"/>
              </a:rPr>
              <a:t>Knee Osteoarthritis KL-Grade Classification Using ResNet   ·   Deep Learning   ·   22AIE304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73952"/>
            <a:ext cx="13990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0B1F3F"/>
                </a:solidFill>
                <a:latin typeface="Arial"/>
              </a:rPr>
              <a:t>11 / 16</a:t>
            </a:r>
          </a:p>
        </p:txBody>
      </p:sp>
      <p:pic>
        <p:nvPicPr>
          <p:cNvPr id="8" name="Confusion matrices" descr="Two confusion matrices for KL grades G0 to G4: raw ensemble (accuracy 65.8 %, kappa 0.819) and bias-tuned final ensemble (accuracy 65.7 %, kappa 0.813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32" y="1280160"/>
            <a:ext cx="11066087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64008" cy="475488"/>
          </a:xfrm>
          <a:prstGeom prst="rect">
            <a:avLst/>
          </a:prstGeom>
          <a:solidFill>
            <a:srgbClr val="0B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B1F3F"/>
                </a:solidFill>
                <a:latin typeface="Arial"/>
              </a:rPr>
              <a:t>Per-Class F1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4980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A6373"/>
                </a:solidFill>
                <a:latin typeface="Arial"/>
              </a:rPr>
              <a:t>Final ensemble on all 4,008 test images; G1 (Doubtful) is the weakest grade, G3 and G4 the strongest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74552" cy="12801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A6373"/>
                </a:solidFill>
                <a:latin typeface="Arial"/>
              </a:rPr>
              <a:t>Knee Osteoarthritis KL-Grade Classification Using ResNet   ·   Deep Learning   ·   22AIE304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73952"/>
            <a:ext cx="13990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0B1F3F"/>
                </a:solidFill>
                <a:latin typeface="Arial"/>
              </a:rPr>
              <a:t>12 / 16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1783080"/>
            <a:ext cx="3867912" cy="2377440"/>
          </a:xfrm>
          <a:prstGeom prst="rect">
            <a:avLst/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92440" y="1920240"/>
            <a:ext cx="3410712" cy="2103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4000" b="1">
                <a:solidFill>
                  <a:srgbClr val="0B1F3F"/>
                </a:solidFill>
                <a:latin typeface="Arial"/>
              </a:rPr>
              <a:t>93.8 %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0B1F3F"/>
                </a:solidFill>
                <a:latin typeface="Arial"/>
              </a:rPr>
              <a:t>of predictions are within one grade of the truth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373"/>
                </a:solidFill>
                <a:latin typeface="Arial"/>
              </a:rPr>
              <a:t>G1 (Doubtful) is the hardest grade; it is most often read as G0 or G2.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371600"/>
            <a:ext cx="256032" cy="256032"/>
          </a:xfrm>
          <a:prstGeom prst="roundRect">
            <a:avLst/>
          </a:prstGeom>
          <a:solidFill>
            <a:srgbClr val="0B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389888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0B1F3F"/>
                </a:solidFill>
                <a:latin typeface="Arial"/>
              </a:rPr>
              <a:t>PER-CLASS F1 (FINAL ENSEMBLE)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DAC9CCB-1509-3A6B-DB5F-4234901F1E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1" y="1843431"/>
            <a:ext cx="7255042" cy="352635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64008" cy="475488"/>
          </a:xfrm>
          <a:prstGeom prst="rect">
            <a:avLst/>
          </a:prstGeom>
          <a:solidFill>
            <a:srgbClr val="0B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B1F3F"/>
                </a:solidFill>
                <a:latin typeface="Arial"/>
              </a:rPr>
              <a:t>Comparison with Published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4980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A6373"/>
                </a:solidFill>
                <a:latin typeface="Arial"/>
              </a:rPr>
              <a:t>Studies on the same knee-OA dataset (Chen / Kaggle), numbers as reported by the authors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74552" cy="12801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A6373"/>
                </a:solidFill>
                <a:latin typeface="Arial"/>
              </a:rPr>
              <a:t>Knee Osteoarthritis KL-Grade Classification Using ResNet   ·   Deep Learning   ·   22AIE304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73952"/>
            <a:ext cx="13990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0B1F3F"/>
                </a:solidFill>
                <a:latin typeface="Arial"/>
              </a:rPr>
              <a:t>13 / 16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371600"/>
          <a:ext cx="11274552" cy="427939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420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Work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Pretrained?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Accuracy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Other reported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0B1F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Chen et al., 2019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VGG-19 + ordinal loss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Yes (fine-tuned)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69.7 %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MAE 0.344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Yong et al., 2022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DenseNet-161 + ordinal regression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Not checked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70.2 %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Jain et al., 2024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OsteoHRNet (multi-scale attention)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Not checked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71.7 %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Jeong &amp; Lee, 2025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CLIP-KOA (CLIP ViT-B/16)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Yes (CLIP)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71.9 %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F1 0.709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Pi et al., 2023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Ensemble of 6 CNNs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Yes (ImageNet)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76.9 % *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F1 0.767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Momenpour &amp; Abu Mallouh, 2025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EfficientNetB5 baseline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Yes (ImageNet)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66.4 %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macro-F1 0.602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afzall003 (GitHub)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Custom CNN, 1.18 M params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No (from scratch)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not reported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bal. acc. 0.644, κ 0.753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1F3F"/>
                          </a:solidFill>
                          <a:latin typeface="Arial"/>
                        </a:rPr>
                        <a:t>This work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CFDC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1F3F"/>
                          </a:solidFill>
                          <a:latin typeface="Arial"/>
                        </a:rPr>
                        <a:t>ResNet × 4 ensemble, 5.31 M params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CFDC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1F3F"/>
                          </a:solidFill>
                          <a:latin typeface="Arial"/>
                        </a:rPr>
                        <a:t>No (from scratch)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CFDC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1F3F"/>
                          </a:solidFill>
                          <a:latin typeface="Arial"/>
                        </a:rPr>
                        <a:t>65.9 %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CFDC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1F3F"/>
                          </a:solidFill>
                          <a:latin typeface="Arial"/>
                        </a:rPr>
                        <a:t>bal. acc. 0.657, macro-F1 0.661, κ 0.825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CFD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7607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5A6373"/>
                </a:solidFill>
                <a:latin typeface="Arial"/>
              </a:rPr>
              <a:t>Test set: </a:t>
            </a:r>
            <a:r>
              <a:rPr sz="1050" b="0">
                <a:solidFill>
                  <a:srgbClr val="5A6373"/>
                </a:solidFill>
                <a:latin typeface="Arial"/>
              </a:rPr>
              <a:t>all rows use the 1,656-image official test split as reported, except * Pi et al., who use five-fold cross-validation on the remaining images and do not state clearly which split the headline number uses. Protocols, label cleaning and metrics differ between studies.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64008" cy="475488"/>
          </a:xfrm>
          <a:prstGeom prst="rect">
            <a:avLst/>
          </a:prstGeom>
          <a:solidFill>
            <a:srgbClr val="0B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B1F3F"/>
                </a:solidFill>
                <a:latin typeface="Arial"/>
              </a:rPr>
              <a:t>Our Work vs Existing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4980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A6373"/>
                </a:solidFill>
                <a:latin typeface="Arial"/>
              </a:rPr>
              <a:t>Approach and results side by side; existing numbers as reported by the authors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74552" cy="12801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A6373"/>
                </a:solidFill>
                <a:latin typeface="Arial"/>
              </a:rPr>
              <a:t>Knee Osteoarthritis KL-Grade Classification Using ResNet   ·   Deep Learning   ·   22AIE304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73952"/>
            <a:ext cx="13990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0B1F3F"/>
                </a:solidFill>
                <a:latin typeface="Arial"/>
              </a:rPr>
              <a:t>14 / 16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371600"/>
          <a:ext cx="11274552" cy="381304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9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Aspect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Existing work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This work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0B1F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1F3F"/>
                          </a:solidFill>
                          <a:latin typeface="Arial"/>
                        </a:rPr>
                        <a:t>Starting weights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4 of 7 listed works start from ImageNet or CLIP weights; 1 trains from scratch, 2 not checked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1F3F"/>
                          </a:solidFill>
                          <a:latin typeface="Arial"/>
                        </a:rPr>
                        <a:t>Random initialisation; only rotation-prediction pre-training on our own training images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CFD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1F3F"/>
                          </a:solidFill>
                          <a:latin typeface="Arial"/>
                        </a:rPr>
                        <a:t>Architecture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VGG-19, DenseNet-161, OsteoHRNet, CLIP ViT-B/16, EfficientNetB5; a 1.18 M-parameter CNN from scratch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1F3F"/>
                          </a:solidFill>
                          <a:latin typeface="Arial"/>
                        </a:rPr>
                        <a:t>Compact 4-stage ResNet with 5.31 M parameters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CFD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1F3F"/>
                          </a:solidFill>
                          <a:latin typeface="Arial"/>
                        </a:rPr>
                        <a:t>Key techniques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Ordinal loss or regression, multi-scale attention, CLIP backbone, one CNN ensemble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1F3F"/>
                          </a:solidFill>
                          <a:latin typeface="Arial"/>
                        </a:rPr>
                        <a:t>CleanLab label cleaning, rotation self-supervision, focal loss with ordinal soft labels, four-seed ensemble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CFD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1F3F"/>
                          </a:solidFill>
                          <a:latin typeface="Arial"/>
                        </a:rPr>
                        <a:t>Evaluation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Official 1,656-image test split as reported; Pi et al. use five-fold cross-validation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1F3F"/>
                          </a:solidFill>
                          <a:latin typeface="Arial"/>
                        </a:rPr>
                        <a:t>Official 1,656 images and all 4,008; nothing selected or tuned on test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CFD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1F3F"/>
                          </a:solidFill>
                          <a:latin typeface="Arial"/>
                        </a:rPr>
                        <a:t>Accuracy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66.4 – 76.9 % across the six works that report it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1F3F"/>
                          </a:solidFill>
                          <a:latin typeface="Arial"/>
                        </a:rPr>
                        <a:t>65.94 % on the official split, 65.67 % on all 4,008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CFD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1F3F"/>
                          </a:solidFill>
                          <a:latin typeface="Arial"/>
                        </a:rPr>
                        <a:t>Balanced acc. / κ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1F3F"/>
                          </a:solidFill>
                          <a:latin typeface="Arial"/>
                        </a:rPr>
                        <a:t>From-scratch CNN: 0.644 / 0.753; EfficientNetB5 macro-F1 0.602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1F3F"/>
                          </a:solidFill>
                          <a:latin typeface="Arial"/>
                        </a:rPr>
                        <a:t>0.657 / 0.825; macro-F1 0.661</a:t>
                      </a:r>
                    </a:p>
                  </a:txBody>
                  <a:tcPr marT="27432" marB="27432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D5DBE5"/>
                      </a:solidFill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CFD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44068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5A6373"/>
                </a:solidFill>
                <a:latin typeface="Arial"/>
              </a:rPr>
              <a:t>Takeaway: </a:t>
            </a:r>
            <a:r>
              <a:rPr sz="1050" b="0">
                <a:solidFill>
                  <a:srgbClr val="5A6373"/>
                </a:solidFill>
                <a:latin typeface="Arial"/>
              </a:rPr>
              <a:t>with no pretrained weights, this work is within 0.5 point of an ImageNet EfficientNetB5 baseline and ahead of the other from-scratch CNN on balanced accuracy and κ. It stays 4 to 11 points below the best pretrained models. Protocols and metrics differ between studies.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64008" cy="475488"/>
          </a:xfrm>
          <a:prstGeom prst="rect">
            <a:avLst/>
          </a:prstGeom>
          <a:solidFill>
            <a:srgbClr val="0B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B1F3F"/>
                </a:solidFill>
                <a:latin typeface="Arial"/>
              </a:rPr>
              <a:t>Where This Work Stands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4980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A6373"/>
                </a:solidFill>
                <a:latin typeface="Arial"/>
              </a:rPr>
              <a:t>Accuracy on the same dataset; every other model starts from pretrained weights or was not checked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74552" cy="12801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A6373"/>
                </a:solidFill>
                <a:latin typeface="Arial"/>
              </a:rPr>
              <a:t>Knee Osteoarthritis KL-Grade Classification Using ResNet   ·   Deep Learning   ·   22AIE304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73952"/>
            <a:ext cx="13990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0B1F3F"/>
                </a:solidFill>
                <a:latin typeface="Arial"/>
              </a:rPr>
              <a:t>15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56032" cy="256032"/>
          </a:xfrm>
          <a:prstGeom prst="roundRect">
            <a:avLst/>
          </a:prstGeom>
          <a:solidFill>
            <a:srgbClr val="0B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8988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0B1F3F"/>
                </a:solidFill>
                <a:latin typeface="Arial"/>
              </a:rPr>
              <a:t>REPORTED ACCURACY (%)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457200" y="1783080"/>
          <a:ext cx="630936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132320" y="1371600"/>
            <a:ext cx="256032" cy="256032"/>
          </a:xfrm>
          <a:prstGeom prst="roundRect">
            <a:avLst/>
          </a:prstGeom>
          <a:solidFill>
            <a:srgbClr val="0B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1389888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0B1F3F"/>
                </a:solidFill>
                <a:latin typeface="Arial"/>
              </a:rPr>
              <a:t>WHAT THE COMPARISON SHOWS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1828800"/>
            <a:ext cx="4599432" cy="1325880"/>
          </a:xfrm>
          <a:prstGeom prst="rect">
            <a:avLst/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0" y="1920240"/>
            <a:ext cx="4251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B1F3F"/>
                </a:solidFill>
                <a:latin typeface="Arial"/>
              </a:rPr>
              <a:t>Gap to pretrained 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212848"/>
            <a:ext cx="42519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0B1F3F"/>
                </a:solidFill>
                <a:latin typeface="Arial"/>
              </a:rPr>
              <a:t>4 to 11 points lower accuracy than the 69.7 – 76.9 % reported with pretrained backbones, and within 0.5 point of an ImageNet EfficientNetB5 baseline (66.4 %), whose macro-F1 is 0.602 against our 0.661.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0" y="3246120"/>
            <a:ext cx="4599432" cy="1325880"/>
          </a:xfrm>
          <a:prstGeom prst="rect">
            <a:avLst/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0" y="3337560"/>
            <a:ext cx="4251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B1F3F"/>
                </a:solidFill>
                <a:latin typeface="Arial"/>
              </a:rPr>
              <a:t>Ahead among from-scratch models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630168"/>
            <a:ext cx="42519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0B1F3F"/>
                </a:solidFill>
                <a:latin typeface="Arial"/>
              </a:rPr>
              <a:t>Balanced accuracy 0.657 and κ 0.825, against 0.644 and 0.753 for the other from-scratch CNN we found on the same official test set.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0" y="4663440"/>
            <a:ext cx="4599432" cy="1325880"/>
          </a:xfrm>
          <a:prstGeom prst="rect">
            <a:avLst/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0" y="4754879"/>
            <a:ext cx="4251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B1F3F"/>
                </a:solidFill>
                <a:latin typeface="Arial"/>
              </a:rPr>
              <a:t>A fair reading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5047488"/>
            <a:ext cx="42519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0B1F3F"/>
                </a:solidFill>
                <a:latin typeface="Arial"/>
              </a:rPr>
              <a:t>Pretraining is a key difference: the stronger works start from ImageNet or CLIP weights, ours from random weights plus rotation pre-training.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263640"/>
            <a:ext cx="11247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5A6373"/>
                </a:solidFill>
                <a:latin typeface="Arial"/>
              </a:rPr>
              <a:t>* Pi et al.: five-fold cross-validation, split of the headline number unclear. Results on relabelled test labels or small subsets are excluded.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64008" cy="475488"/>
          </a:xfrm>
          <a:prstGeom prst="rect">
            <a:avLst/>
          </a:prstGeom>
          <a:solidFill>
            <a:srgbClr val="0B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B1F3F"/>
                </a:solidFill>
                <a:latin typeface="Arial"/>
              </a:rPr>
              <a:t>Conclusion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4980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A6373"/>
                </a:solidFill>
                <a:latin typeface="Arial"/>
              </a:rPr>
              <a:t>What the project shows and where it stops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74552" cy="12801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A6373"/>
                </a:solidFill>
                <a:latin typeface="Arial"/>
              </a:rPr>
              <a:t>Knee Osteoarthritis KL-Grade Classification Using ResNet   ·   Deep Learning   ·   22AIE304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73952"/>
            <a:ext cx="13990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0B1F3F"/>
                </a:solidFill>
                <a:latin typeface="Arial"/>
              </a:rPr>
              <a:t>16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56032" cy="256032"/>
          </a:xfrm>
          <a:prstGeom prst="roundRect">
            <a:avLst/>
          </a:prstGeom>
          <a:solidFill>
            <a:srgbClr val="0B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89888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0B1F3F"/>
                </a:solidFill>
                <a:latin typeface="Arial"/>
              </a:rPr>
              <a:t>KEY OUTCOMES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>
              <a:spcAft>
                <a:spcPts val="1100"/>
              </a:spcAft>
              <a:buChar char="•"/>
            </a:pPr>
            <a:r>
              <a:rPr sz="1400" b="1">
                <a:solidFill>
                  <a:srgbClr val="0B1F3F"/>
                </a:solidFill>
                <a:latin typeface="Arial"/>
              </a:rPr>
              <a:t>Accuracy: </a:t>
            </a:r>
            <a:r>
              <a:rPr sz="1400" b="0">
                <a:solidFill>
                  <a:srgbClr val="0B1F3F"/>
                </a:solidFill>
                <a:latin typeface="Arial"/>
              </a:rPr>
              <a:t>65.67 % on 4,008 test images, quadratic κ 0.813</a:t>
            </a:r>
          </a:p>
          <a:p>
            <a:pPr marL="182880" indent="-182880">
              <a:spcAft>
                <a:spcPts val="1100"/>
              </a:spcAft>
              <a:buChar char="•"/>
            </a:pPr>
            <a:r>
              <a:rPr sz="1400" b="1">
                <a:solidFill>
                  <a:srgbClr val="0B1F3F"/>
                </a:solidFill>
                <a:latin typeface="Arial"/>
              </a:rPr>
              <a:t>Official test: </a:t>
            </a:r>
            <a:r>
              <a:rPr sz="1400" b="0">
                <a:solidFill>
                  <a:srgbClr val="0B1F3F"/>
                </a:solidFill>
                <a:latin typeface="Arial"/>
              </a:rPr>
              <a:t>65.94 %, κ 0.825, from scratch</a:t>
            </a:r>
          </a:p>
          <a:p>
            <a:pPr marL="182880" indent="-182880">
              <a:spcAft>
                <a:spcPts val="1100"/>
              </a:spcAft>
              <a:buChar char="•"/>
            </a:pPr>
            <a:r>
              <a:rPr sz="1400" b="1">
                <a:solidFill>
                  <a:srgbClr val="0B1F3F"/>
                </a:solidFill>
                <a:latin typeface="Arial"/>
              </a:rPr>
              <a:t>Ensemble: </a:t>
            </a:r>
            <a:r>
              <a:rPr sz="1400" b="0">
                <a:solidFill>
                  <a:srgbClr val="0B1F3F"/>
                </a:solidFill>
                <a:latin typeface="Arial"/>
              </a:rPr>
              <a:t>four ResNet seeds, validation κ 0.815 – 0.823 each</a:t>
            </a:r>
          </a:p>
          <a:p>
            <a:pPr marL="182880" indent="-182880">
              <a:spcAft>
                <a:spcPts val="1100"/>
              </a:spcAft>
              <a:buChar char="•"/>
            </a:pPr>
            <a:r>
              <a:rPr sz="1400" b="1">
                <a:solidFill>
                  <a:srgbClr val="0B1F3F"/>
                </a:solidFill>
                <a:latin typeface="Arial"/>
              </a:rPr>
              <a:t>Label noise: </a:t>
            </a:r>
            <a:r>
              <a:rPr sz="1400" b="0">
                <a:solidFill>
                  <a:srgbClr val="0B1F3F"/>
                </a:solidFill>
                <a:latin typeface="Arial"/>
              </a:rPr>
              <a:t>CleanLab down-weighted 988 suspect labels without discarding data</a:t>
            </a:r>
          </a:p>
          <a:p>
            <a:pPr marL="182880" indent="-182880">
              <a:spcAft>
                <a:spcPts val="1100"/>
              </a:spcAft>
              <a:buChar char="•"/>
            </a:pPr>
            <a:r>
              <a:rPr sz="1400" b="1">
                <a:solidFill>
                  <a:srgbClr val="0B1F3F"/>
                </a:solidFill>
                <a:latin typeface="Arial"/>
              </a:rPr>
              <a:t>Efficiency: </a:t>
            </a:r>
            <a:r>
              <a:rPr sz="1400" b="0">
                <a:solidFill>
                  <a:srgbClr val="0B1F3F"/>
                </a:solidFill>
                <a:latin typeface="Arial"/>
              </a:rPr>
              <a:t>the whole pipeline ran in 2.7 hours on one Kaggle T4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371600"/>
            <a:ext cx="256032" cy="256032"/>
          </a:xfrm>
          <a:prstGeom prst="roundRect">
            <a:avLst/>
          </a:prstGeom>
          <a:solidFill>
            <a:srgbClr val="0B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389888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0B1F3F"/>
                </a:solidFill>
                <a:latin typeface="Arial"/>
              </a:rPr>
              <a:t>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828800"/>
            <a:ext cx="5422392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>
              <a:spcAft>
                <a:spcPts val="1100"/>
              </a:spcAft>
              <a:buChar char="•"/>
            </a:pPr>
            <a:r>
              <a:rPr sz="1400" b="0">
                <a:solidFill>
                  <a:srgbClr val="0B1F3F"/>
                </a:solidFill>
                <a:latin typeface="Arial"/>
              </a:rPr>
              <a:t>G1 (Doubtful) has F1 of only 0.31; it is hard to separate from G0 and G2</a:t>
            </a:r>
          </a:p>
          <a:p>
            <a:pPr marL="182880" indent="-182880">
              <a:spcAft>
                <a:spcPts val="1100"/>
              </a:spcAft>
              <a:buChar char="•"/>
            </a:pPr>
            <a:r>
              <a:rPr sz="1400" b="0">
                <a:solidFill>
                  <a:srgbClr val="0B1F3F"/>
                </a:solidFill>
                <a:latin typeface="Arial"/>
              </a:rPr>
              <a:t>Bias tuning trades a little accuracy for better balance between grades</a:t>
            </a:r>
          </a:p>
          <a:p>
            <a:pPr marL="182880" indent="-182880">
              <a:spcAft>
                <a:spcPts val="1100"/>
              </a:spcAft>
              <a:buChar char="•"/>
            </a:pPr>
            <a:r>
              <a:rPr sz="1400" b="0">
                <a:solidFill>
                  <a:srgbClr val="0B1F3F"/>
                </a:solidFill>
                <a:latin typeface="Arial"/>
              </a:rPr>
              <a:t>One dataset only; no external validation</a:t>
            </a:r>
          </a:p>
          <a:p>
            <a:pPr marL="182880" indent="-182880">
              <a:spcAft>
                <a:spcPts val="1100"/>
              </a:spcAft>
              <a:buChar char="•"/>
            </a:pPr>
            <a:r>
              <a:rPr sz="1400" b="0">
                <a:solidFill>
                  <a:srgbClr val="0B1F3F"/>
                </a:solidFill>
                <a:latin typeface="Arial"/>
              </a:rPr>
              <a:t>Below the best pretrained ensembles reported in the literature</a:t>
            </a:r>
          </a:p>
          <a:p>
            <a:pPr marL="182880" indent="-182880">
              <a:spcAft>
                <a:spcPts val="1100"/>
              </a:spcAft>
              <a:buChar char="•"/>
            </a:pPr>
            <a:r>
              <a:rPr sz="1400" b="0">
                <a:solidFill>
                  <a:srgbClr val="0B1F3F"/>
                </a:solidFill>
                <a:latin typeface="Arial"/>
              </a:rPr>
              <a:t>A research prototype, not a medical device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937760"/>
            <a:ext cx="5486400" cy="1280160"/>
          </a:xfrm>
          <a:prstGeom prst="rect">
            <a:avLst/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4937760"/>
            <a:ext cx="512064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0B1F3F"/>
                </a:solidFill>
                <a:latin typeface="Arial"/>
              </a:rPr>
              <a:t>Takeaway. </a:t>
            </a:r>
            <a:r>
              <a:rPr sz="1300" b="0">
                <a:solidFill>
                  <a:srgbClr val="0B1F3F"/>
                </a:solidFill>
                <a:latin typeface="Arial"/>
              </a:rPr>
              <a:t>A compact ResNet, cleaned labels and a four-seed ensemble reach κ 0.81 without any pretrained weights.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4937760"/>
            <a:ext cx="5422392" cy="1280160"/>
          </a:xfrm>
          <a:prstGeom prst="rect">
            <a:avLst/>
          </a:prstGeom>
          <a:solidFill>
            <a:srgbClr val="0B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4937760"/>
            <a:ext cx="507492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Future work: larger and external data, pretrained backbones as a comparison, and calibrated uncertainty for borderline grades.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2677</Words>
  <Application>Microsoft Office PowerPoint</Application>
  <PresentationFormat>Widescreen</PresentationFormat>
  <Paragraphs>425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Praneeth Mamidala</cp:lastModifiedBy>
  <cp:revision>3</cp:revision>
  <dcterms:created xsi:type="dcterms:W3CDTF">2013-01-27T09:14:16Z</dcterms:created>
  <dcterms:modified xsi:type="dcterms:W3CDTF">2026-10-21T12:43:55Z</dcterms:modified>
  <cp:category/>
</cp:coreProperties>
</file>